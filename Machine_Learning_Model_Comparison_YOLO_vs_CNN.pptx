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999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5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7" Type="http://schemas.openxmlformats.org/officeDocument/2006/relationships/image" Target="../media/image3.jpg"/><Relationship Id="rIdImg9" Type="http://schemas.openxmlformats.org/officeDocument/2006/relationships/image" Target="../media/image4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pic>
        <p:nvPicPr>
          <p:cNvPr id="5" name="BloodImage_00038_jpg.rf.ffa23e4b5b55b523367f332af726eae8.jpg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909560" y="457200"/>
            <a:ext cx="3886200" cy="3886200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7635240" y="4462272"/>
            <a:ext cx="4315968" cy="1627632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7845552" y="468172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000" b="1">
                <a:solidFill>
                  <a:srgbClr val="5B6470"/>
                </a:solidFill>
                <a:latin typeface="Aptos"/>
                <a:cs typeface="Aptos"/>
              </a:rPr>
              <a:t>Held-out test split</a:t>
            </a:r>
            <a:endParaRPr lang="en-US" sz="1000"/>
          </a:p>
        </p:txBody>
      </p:sp>
      <p:sp>
        <p:nvSpPr>
          <p:cNvPr id="8" name="Text 8"/>
          <p:cNvSpPr txBox="1"/>
          <p:nvPr/>
        </p:nvSpPr>
        <p:spPr>
          <a:xfrm>
            <a:off x="7845552" y="4974336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100" b="1">
                <a:solidFill>
                  <a:srgbClr val="18212B"/>
                </a:solidFill>
                <a:latin typeface="Aptos Display"/>
                <a:cs typeface="Aptos Display"/>
              </a:rPr>
              <a:t>36 images / 471 cells</a:t>
            </a:r>
            <a:endParaRPr lang="en-US" sz="2100"/>
          </a:p>
        </p:txBody>
      </p:sp>
      <p:sp>
        <p:nvSpPr>
          <p:cNvPr id="9" name="Text 9"/>
          <p:cNvSpPr txBox="1"/>
          <p:nvPr/>
        </p:nvSpPr>
        <p:spPr>
          <a:xfrm>
            <a:off x="7845552" y="5468112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000">
                <a:solidFill>
                  <a:srgbClr val="5B6470"/>
                </a:solidFill>
                <a:latin typeface="Aptos"/>
                <a:cs typeface="Aptos"/>
              </a:rPr>
              <a:t>Platelets, RBC, WBC detection</a:t>
            </a:r>
            <a:endParaRPr lang="en-US" sz="1000"/>
          </a:p>
        </p:txBody>
      </p:sp>
      <p:sp>
        <p:nvSpPr>
          <p:cNvPr id="10" name="Text 10"/>
          <p:cNvSpPr txBox="1"/>
          <p:nvPr/>
        </p:nvSpPr>
        <p:spPr>
          <a:xfrm>
            <a:off x="566928" y="786384"/>
            <a:ext cx="6720840" cy="148132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4200" b="1">
                <a:solidFill>
                  <a:srgbClr val="FFFFFF"/>
                </a:solidFill>
                <a:latin typeface="Aptos Display"/>
                <a:cs typeface="Aptos Display"/>
              </a:rPr>
              <a:t>Machine Learning</a:t>
            </a:r>
            <a:endParaRPr lang="en-US" sz="4200"/>
          </a:p>
          <a:p>
            <a:pPr/>
            <a:r>
              <a:rPr lang="en-US" sz="4200" b="1">
                <a:solidFill>
                  <a:srgbClr val="FFFFFF"/>
                </a:solidFill>
                <a:latin typeface="Aptos Display"/>
                <a:cs typeface="Aptos Display"/>
              </a:rPr>
              <a:t>Model Comparison</a:t>
            </a:r>
            <a:endParaRPr lang="en-US" sz="4200"/>
          </a:p>
        </p:txBody>
      </p:sp>
      <p:sp>
        <p:nvSpPr>
          <p:cNvPr id="11" name="Text 11"/>
          <p:cNvSpPr txBox="1"/>
          <p:nvPr/>
        </p:nvSpPr>
        <p:spPr>
          <a:xfrm>
            <a:off x="621792" y="2423160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700" b="1">
                <a:solidFill>
                  <a:srgbClr val="F6C85F"/>
                </a:solidFill>
                <a:latin typeface="Aptos"/>
                <a:cs typeface="Aptos"/>
              </a:rPr>
              <a:t>YOLO vs CNN/Faster R-CNN for blood cell detection</a:t>
            </a:r>
            <a:endParaRPr lang="en-US" sz="1700"/>
          </a:p>
        </p:txBody>
      </p:sp>
      <p:sp>
        <p:nvSpPr>
          <p:cNvPr id="12" name="Text 12"/>
          <p:cNvSpPr txBox="1"/>
          <p:nvPr/>
        </p:nvSpPr>
        <p:spPr>
          <a:xfrm>
            <a:off x="621792" y="3063240"/>
            <a:ext cx="56235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700">
                <a:solidFill>
                  <a:srgbClr val="F7F1E5"/>
                </a:solidFill>
                <a:latin typeface="Aptos"/>
                <a:cs typeface="Aptos"/>
              </a:rPr>
              <a:t>Storyline: start with an imbalanced medical-image detection problem, compare the measured candidates on the same test split, then select the model that generalizes best.</a:t>
            </a:r>
            <a:endParaRPr lang="en-US" sz="1700"/>
          </a:p>
        </p:txBody>
      </p:sp>
      <p:sp>
        <p:nvSpPr>
          <p:cNvPr id="13" name="Shape 13"/>
          <p:cNvSpPr/>
          <p:nvPr/>
        </p:nvSpPr>
        <p:spPr>
          <a:xfrm>
            <a:off x="621792" y="4645152"/>
            <a:ext cx="2514600" cy="1115568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621792" y="4645152"/>
            <a:ext cx="73152" cy="1115568"/>
          </a:xfrm>
          <a:prstGeom prst="round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86384" y="4791456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WINNER</a:t>
            </a:r>
            <a:endParaRPr lang="en-US" sz="850"/>
          </a:p>
        </p:txBody>
      </p:sp>
      <p:sp>
        <p:nvSpPr>
          <p:cNvPr id="16" name="Text 16"/>
          <p:cNvSpPr txBox="1"/>
          <p:nvPr/>
        </p:nvSpPr>
        <p:spPr>
          <a:xfrm>
            <a:off x="786384" y="5047488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YOLO v26m</a:t>
            </a:r>
            <a:endParaRPr lang="en-US" sz="2500"/>
          </a:p>
        </p:txBody>
      </p:sp>
      <p:sp>
        <p:nvSpPr>
          <p:cNvPr id="17" name="Text 17"/>
          <p:cNvSpPr txBox="1"/>
          <p:nvPr/>
        </p:nvSpPr>
        <p:spPr>
          <a:xfrm>
            <a:off x="786384" y="5541264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150 epochs checkpoint</a:t>
            </a:r>
            <a:endParaRPr lang="en-US" sz="850"/>
          </a:p>
        </p:txBody>
      </p:sp>
      <p:sp>
        <p:nvSpPr>
          <p:cNvPr id="18" name="Shape 18"/>
          <p:cNvSpPr/>
          <p:nvPr/>
        </p:nvSpPr>
        <p:spPr>
          <a:xfrm>
            <a:off x="3346704" y="4645152"/>
            <a:ext cx="2331720" cy="1115568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3346704" y="4645152"/>
            <a:ext cx="73152" cy="1115568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3511296" y="4791456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BEST F1</a:t>
            </a:r>
            <a:endParaRPr lang="en-US" sz="850"/>
          </a:p>
        </p:txBody>
      </p:sp>
      <p:sp>
        <p:nvSpPr>
          <p:cNvPr id="21" name="Text 21"/>
          <p:cNvSpPr txBox="1"/>
          <p:nvPr/>
        </p:nvSpPr>
        <p:spPr>
          <a:xfrm>
            <a:off x="3511296" y="504748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83.9%</a:t>
            </a:r>
            <a:endParaRPr lang="en-US" sz="2500"/>
          </a:p>
        </p:txBody>
      </p:sp>
      <p:sp>
        <p:nvSpPr>
          <p:cNvPr id="22" name="Text 22"/>
          <p:cNvSpPr txBox="1"/>
          <p:nvPr/>
        </p:nvSpPr>
        <p:spPr>
          <a:xfrm>
            <a:off x="3511296" y="5541264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+6.9 pts over CNN</a:t>
            </a:r>
            <a:endParaRPr lang="en-US" sz="850"/>
          </a:p>
        </p:txBody>
      </p:sp>
      <p:sp>
        <p:nvSpPr>
          <p:cNvPr id="23" name="Shape 23"/>
          <p:cNvSpPr/>
          <p:nvPr/>
        </p:nvSpPr>
        <p:spPr>
          <a:xfrm>
            <a:off x="5879592" y="4645152"/>
            <a:ext cx="1481328" cy="1115568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5879592" y="4645152"/>
            <a:ext cx="73152" cy="1115568"/>
          </a:xfrm>
          <a:prstGeom prst="roundRect">
            <a:avLst/>
          </a:prstGeom>
          <a:solidFill>
            <a:srgbClr val="57C785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6044184" y="4791456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MAP50</a:t>
            </a:r>
            <a:endParaRPr lang="en-US" sz="850"/>
          </a:p>
        </p:txBody>
      </p:sp>
      <p:sp>
        <p:nvSpPr>
          <p:cNvPr id="26" name="Text 26"/>
          <p:cNvSpPr txBox="1"/>
          <p:nvPr/>
        </p:nvSpPr>
        <p:spPr>
          <a:xfrm>
            <a:off x="6044184" y="5047488"/>
            <a:ext cx="1207008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89.2%</a:t>
            </a:r>
            <a:endParaRPr lang="en-US" sz="2500"/>
          </a:p>
        </p:txBody>
      </p:sp>
      <p:sp>
        <p:nvSpPr>
          <p:cNvPr id="27" name="Text 27"/>
          <p:cNvSpPr txBox="1"/>
          <p:nvPr/>
        </p:nvSpPr>
        <p:spPr>
          <a:xfrm>
            <a:off x="6044184" y="5541264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+4.0 pts</a:t>
            </a:r>
            <a:endParaRPr lang="en-US" sz="850"/>
          </a:p>
        </p:txBody>
      </p:sp>
      <p:sp>
        <p:nvSpPr>
          <p:cNvPr id="28" name="Shape 28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Generated from local research artifacts under C:\Users\usEr\Downloads\Research</a:t>
            </a:r>
            <a:endParaRPr lang="en-US" sz="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01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EXECUTIVE TAKEAWAY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The decision in one slide</a:t>
            </a:r>
            <a:endParaRPr lang="en-US" sz="3200"/>
          </a:p>
        </p:txBody>
      </p:sp>
      <p:sp>
        <p:nvSpPr>
          <p:cNvPr id="8" name="Text 8"/>
          <p:cNvSpPr txBox="1"/>
          <p:nvPr/>
        </p:nvSpPr>
        <p:spPr>
          <a:xfrm>
            <a:off x="621792" y="1481328"/>
            <a:ext cx="521208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700">
                <a:solidFill>
                  <a:srgbClr val="F7F1E5"/>
                </a:solidFill>
                <a:latin typeface="Aptos Display"/>
                <a:cs typeface="Aptos Display"/>
              </a:rPr>
              <a:t>Both approaches detect the same three cell classes. On the same 36-image test split, YOLO leads every shared aggregate metric.</a:t>
            </a:r>
            <a:endParaRPr lang="en-US" sz="1700"/>
          </a:p>
        </p:txBody>
      </p:sp>
      <p:sp>
        <p:nvSpPr>
          <p:cNvPr id="9" name="Shape 9"/>
          <p:cNvSpPr/>
          <p:nvPr/>
        </p:nvSpPr>
        <p:spPr>
          <a:xfrm>
            <a:off x="685800" y="2542032"/>
            <a:ext cx="2423160" cy="1225296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685800" y="2542032"/>
            <a:ext cx="73152" cy="1225296"/>
          </a:xfrm>
          <a:prstGeom prst="round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50392" y="2688336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PRECISION GAIN</a:t>
            </a:r>
            <a:endParaRPr lang="en-US" sz="850"/>
          </a:p>
        </p:txBody>
      </p:sp>
      <p:sp>
        <p:nvSpPr>
          <p:cNvPr id="12" name="Text 12"/>
          <p:cNvSpPr txBox="1"/>
          <p:nvPr/>
        </p:nvSpPr>
        <p:spPr>
          <a:xfrm>
            <a:off x="850392" y="2944368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+10.2 pts</a:t>
            </a:r>
            <a:endParaRPr lang="en-US" sz="2500"/>
          </a:p>
        </p:txBody>
      </p:sp>
      <p:sp>
        <p:nvSpPr>
          <p:cNvPr id="13" name="Text 13"/>
          <p:cNvSpPr txBox="1"/>
          <p:nvPr/>
        </p:nvSpPr>
        <p:spPr>
          <a:xfrm>
            <a:off x="850392" y="3438144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YOLO 79.4% vs CNN 69.2%</a:t>
            </a:r>
            <a:endParaRPr lang="en-US" sz="850"/>
          </a:p>
        </p:txBody>
      </p:sp>
      <p:sp>
        <p:nvSpPr>
          <p:cNvPr id="14" name="Shape 14"/>
          <p:cNvSpPr/>
          <p:nvPr/>
        </p:nvSpPr>
        <p:spPr>
          <a:xfrm>
            <a:off x="3310128" y="2542032"/>
            <a:ext cx="2423160" cy="1225296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3310128" y="2542032"/>
            <a:ext cx="73152" cy="1225296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3474720" y="2688336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RECALL GAIN</a:t>
            </a:r>
            <a:endParaRPr lang="en-US" sz="850"/>
          </a:p>
        </p:txBody>
      </p:sp>
      <p:sp>
        <p:nvSpPr>
          <p:cNvPr id="17" name="Text 17"/>
          <p:cNvSpPr txBox="1"/>
          <p:nvPr/>
        </p:nvSpPr>
        <p:spPr>
          <a:xfrm>
            <a:off x="3474720" y="2944368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+2.2 pts</a:t>
            </a:r>
            <a:endParaRPr lang="en-US" sz="2500"/>
          </a:p>
        </p:txBody>
      </p:sp>
      <p:sp>
        <p:nvSpPr>
          <p:cNvPr id="18" name="Text 18"/>
          <p:cNvSpPr txBox="1"/>
          <p:nvPr/>
        </p:nvSpPr>
        <p:spPr>
          <a:xfrm>
            <a:off x="3474720" y="3438144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YOLO 89.0% vs CNN 86.8%</a:t>
            </a:r>
            <a:endParaRPr lang="en-US" sz="850"/>
          </a:p>
        </p:txBody>
      </p:sp>
      <p:sp>
        <p:nvSpPr>
          <p:cNvPr id="19" name="Shape 19"/>
          <p:cNvSpPr/>
          <p:nvPr/>
        </p:nvSpPr>
        <p:spPr>
          <a:xfrm>
            <a:off x="685800" y="4041648"/>
            <a:ext cx="2423160" cy="1225296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685800" y="4041648"/>
            <a:ext cx="73152" cy="1225296"/>
          </a:xfrm>
          <a:prstGeom prst="roundRect">
            <a:avLst/>
          </a:prstGeom>
          <a:solidFill>
            <a:srgbClr val="57C785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50392" y="418795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F1 GAIN</a:t>
            </a:r>
            <a:endParaRPr lang="en-US" sz="850"/>
          </a:p>
        </p:txBody>
      </p:sp>
      <p:sp>
        <p:nvSpPr>
          <p:cNvPr id="22" name="Text 22"/>
          <p:cNvSpPr txBox="1"/>
          <p:nvPr/>
        </p:nvSpPr>
        <p:spPr>
          <a:xfrm>
            <a:off x="850392" y="4443984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+6.9 pts</a:t>
            </a:r>
            <a:endParaRPr lang="en-US" sz="2500"/>
          </a:p>
        </p:txBody>
      </p:sp>
      <p:sp>
        <p:nvSpPr>
          <p:cNvPr id="23" name="Text 23"/>
          <p:cNvSpPr txBox="1"/>
          <p:nvPr/>
        </p:nvSpPr>
        <p:spPr>
          <a:xfrm>
            <a:off x="850392" y="493776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YOLO 83.9% vs CNN 77.0%</a:t>
            </a:r>
            <a:endParaRPr lang="en-US" sz="850"/>
          </a:p>
        </p:txBody>
      </p:sp>
      <p:sp>
        <p:nvSpPr>
          <p:cNvPr id="24" name="Shape 24"/>
          <p:cNvSpPr/>
          <p:nvPr/>
        </p:nvSpPr>
        <p:spPr>
          <a:xfrm>
            <a:off x="3310128" y="4041648"/>
            <a:ext cx="2423160" cy="1225296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3310128" y="4041648"/>
            <a:ext cx="73152" cy="1225296"/>
          </a:xfrm>
          <a:prstGeom prst="roundRect">
            <a:avLst/>
          </a:prstGeom>
          <a:solidFill>
            <a:srgbClr val="4F8EF7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3474720" y="418795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MAP50 GAIN</a:t>
            </a:r>
            <a:endParaRPr lang="en-US" sz="850"/>
          </a:p>
        </p:txBody>
      </p:sp>
      <p:sp>
        <p:nvSpPr>
          <p:cNvPr id="27" name="Text 27"/>
          <p:cNvSpPr txBox="1"/>
          <p:nvPr/>
        </p:nvSpPr>
        <p:spPr>
          <a:xfrm>
            <a:off x="3474720" y="4443984"/>
            <a:ext cx="21488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+4.0 pts</a:t>
            </a:r>
            <a:endParaRPr lang="en-US" sz="2500"/>
          </a:p>
        </p:txBody>
      </p:sp>
      <p:sp>
        <p:nvSpPr>
          <p:cNvPr id="28" name="Text 28"/>
          <p:cNvSpPr txBox="1"/>
          <p:nvPr/>
        </p:nvSpPr>
        <p:spPr>
          <a:xfrm>
            <a:off x="3474720" y="493776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YOLO 89.2% vs CNN 85.2%</a:t>
            </a:r>
            <a:endParaRPr lang="en-US" sz="850"/>
          </a:p>
        </p:txBody>
      </p:sp>
      <p:sp>
        <p:nvSpPr>
          <p:cNvPr id="29" name="Shape 29"/>
          <p:cNvSpPr/>
          <p:nvPr/>
        </p:nvSpPr>
        <p:spPr>
          <a:xfrm>
            <a:off x="6419088" y="1389888"/>
            <a:ext cx="5074920" cy="452628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693408" y="1664208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200" b="1">
                <a:solidFill>
                  <a:srgbClr val="18212B"/>
                </a:solidFill>
                <a:latin typeface="Aptos Display"/>
                <a:cs typeface="Aptos Display"/>
              </a:rPr>
              <a:t>Interpretation</a:t>
            </a:r>
            <a:endParaRPr lang="en-US" sz="2200"/>
          </a:p>
        </p:txBody>
      </p:sp>
      <p:sp>
        <p:nvSpPr>
          <p:cNvPr id="31" name="Text 31"/>
          <p:cNvSpPr txBox="1"/>
          <p:nvPr/>
        </p:nvSpPr>
        <p:spPr>
          <a:xfrm>
            <a:off x="6693408" y="2331720"/>
            <a:ext cx="4526280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YOLO is the safer primary detector: better precision without sacrificing recall.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CNN tuning reduced false positives, but its best F1 remains lower.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Longer YOLO training did not automatically win; the best held-out result is a 150-epoch run.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Next decision should add latency and per-class YOLO metrics before deployment.</a:t>
            </a:r>
            <a:endParaRPr lang="en-US" sz="1300"/>
          </a:p>
        </p:txBody>
      </p:sp>
      <p:sp>
        <p:nvSpPr>
          <p:cNvPr id="32" name="Text 32"/>
          <p:cNvSpPr txBox="1"/>
          <p:nvPr/>
        </p:nvSpPr>
        <p:spPr>
          <a:xfrm>
            <a:off x="6693408" y="480060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600" b="1">
                <a:solidFill>
                  <a:srgbClr val="E84A5F"/>
                </a:solidFill>
                <a:latin typeface="Aptos Display"/>
                <a:cs typeface="Aptos Display"/>
              </a:rPr>
              <a:t>Recommendation: present YOLO as the main model and CNN/Faster R-CNN as a transparent baseline.</a:t>
            </a:r>
            <a:endParaRPr lang="en-US" sz="1600"/>
          </a:p>
        </p:txBody>
      </p:sp>
      <p:sp>
        <p:nvSpPr>
          <p:cNvPr id="33" name="Shape 3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Source: CNN/outputs/eval_test_metrics.json; YOLO/test/runs/best_pt_validation_summary_20260513_005420.csv</a:t>
            </a:r>
            <a:endParaRPr lang="en-US"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02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DATA CONTEXT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The problem is imbalanced</a:t>
            </a:r>
            <a:endParaRPr lang="en-US" sz="3200"/>
          </a:p>
        </p:txBody>
      </p:sp>
      <p:sp>
        <p:nvSpPr>
          <p:cNvPr id="8" name="Text 8"/>
          <p:cNvSpPr txBox="1"/>
          <p:nvPr/>
        </p:nvSpPr>
        <p:spPr>
          <a:xfrm>
            <a:off x="621792" y="1371600"/>
            <a:ext cx="544068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700">
                <a:solidFill>
                  <a:srgbClr val="F7F1E5"/>
                </a:solidFill>
                <a:latin typeface="Aptos Display"/>
                <a:cs typeface="Aptos Display"/>
              </a:rPr>
              <a:t>The test set is small but dense: RBC dominates the object count, so false-positive control matters.</a:t>
            </a:r>
            <a:endParaRPr lang="en-US" sz="1700"/>
          </a:p>
        </p:txBody>
      </p:sp>
      <p:sp>
        <p:nvSpPr>
          <p:cNvPr id="9" name="Shape 9"/>
          <p:cNvSpPr/>
          <p:nvPr/>
        </p:nvSpPr>
        <p:spPr>
          <a:xfrm>
            <a:off x="658368" y="2359152"/>
            <a:ext cx="5440680" cy="114300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896112" y="2743200"/>
            <a:ext cx="4133826" cy="384048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32688" y="2889504"/>
            <a:ext cx="4060674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1000" b="1">
                <a:solidFill>
                  <a:srgbClr val="18212B"/>
                </a:solidFill>
                <a:latin typeface="Aptos"/>
                <a:cs typeface="Aptos"/>
              </a:rPr>
              <a:t>RBC</a:t>
            </a:r>
            <a:endParaRPr lang="en-US" sz="1000"/>
          </a:p>
          <a:p>
            <a:pPr algn="ctr"/>
            <a:r>
              <a:rPr lang="en-US" sz="1000" b="1">
                <a:solidFill>
                  <a:srgbClr val="18212B"/>
                </a:solidFill>
                <a:latin typeface="Aptos"/>
                <a:cs typeface="Aptos"/>
              </a:rPr>
              <a:t>398 (85%)</a:t>
            </a:r>
            <a:endParaRPr lang="en-US" sz="1000"/>
          </a:p>
        </p:txBody>
      </p:sp>
      <p:sp>
        <p:nvSpPr>
          <p:cNvPr id="12" name="Shape 12"/>
          <p:cNvSpPr/>
          <p:nvPr/>
        </p:nvSpPr>
        <p:spPr>
          <a:xfrm>
            <a:off x="5029938" y="2743200"/>
            <a:ext cx="384300" cy="384048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5414238" y="2743200"/>
            <a:ext cx="373914" cy="38404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896112" y="2743200"/>
            <a:ext cx="4892040" cy="384048"/>
          </a:xfrm>
          <a:prstGeom prst="rect">
            <a:avLst/>
          </a:prstGeom>
          <a:noFill/>
          <a:ln w="13970">
            <a:solidFill>
              <a:srgbClr val="F7F1E5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58368" y="3950208"/>
            <a:ext cx="1645920" cy="987552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658368" y="3950208"/>
            <a:ext cx="73152" cy="987552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22960" y="409651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IMAGES</a:t>
            </a:r>
            <a:endParaRPr lang="en-US" sz="850"/>
          </a:p>
        </p:txBody>
      </p:sp>
      <p:sp>
        <p:nvSpPr>
          <p:cNvPr id="18" name="Text 18"/>
          <p:cNvSpPr txBox="1"/>
          <p:nvPr/>
        </p:nvSpPr>
        <p:spPr>
          <a:xfrm>
            <a:off x="822960" y="4352544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36</a:t>
            </a:r>
            <a:endParaRPr lang="en-US" sz="2500"/>
          </a:p>
        </p:txBody>
      </p:sp>
      <p:sp>
        <p:nvSpPr>
          <p:cNvPr id="19" name="Text 19"/>
          <p:cNvSpPr txBox="1"/>
          <p:nvPr/>
        </p:nvSpPr>
        <p:spPr>
          <a:xfrm>
            <a:off x="822960" y="484632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held-out test</a:t>
            </a:r>
            <a:endParaRPr lang="en-US" sz="850"/>
          </a:p>
        </p:txBody>
      </p:sp>
      <p:sp>
        <p:nvSpPr>
          <p:cNvPr id="20" name="Shape 20"/>
          <p:cNvSpPr/>
          <p:nvPr/>
        </p:nvSpPr>
        <p:spPr>
          <a:xfrm>
            <a:off x="2542032" y="3950208"/>
            <a:ext cx="1645920" cy="987552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2542032" y="3950208"/>
            <a:ext cx="73152" cy="987552"/>
          </a:xfrm>
          <a:prstGeom prst="roundRect">
            <a:avLst/>
          </a:prstGeom>
          <a:solidFill>
            <a:srgbClr val="57C785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2706624" y="409651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OBJECTS</a:t>
            </a:r>
            <a:endParaRPr lang="en-US" sz="850"/>
          </a:p>
        </p:txBody>
      </p:sp>
      <p:sp>
        <p:nvSpPr>
          <p:cNvPr id="23" name="Text 23"/>
          <p:cNvSpPr txBox="1"/>
          <p:nvPr/>
        </p:nvSpPr>
        <p:spPr>
          <a:xfrm>
            <a:off x="2706624" y="4352544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471</a:t>
            </a:r>
            <a:endParaRPr lang="en-US" sz="2500"/>
          </a:p>
        </p:txBody>
      </p:sp>
      <p:sp>
        <p:nvSpPr>
          <p:cNvPr id="24" name="Text 24"/>
          <p:cNvSpPr txBox="1"/>
          <p:nvPr/>
        </p:nvSpPr>
        <p:spPr>
          <a:xfrm>
            <a:off x="2706624" y="484632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total labels</a:t>
            </a:r>
            <a:endParaRPr lang="en-US" sz="850"/>
          </a:p>
        </p:txBody>
      </p:sp>
      <p:sp>
        <p:nvSpPr>
          <p:cNvPr id="25" name="Shape 25"/>
          <p:cNvSpPr/>
          <p:nvPr/>
        </p:nvSpPr>
        <p:spPr>
          <a:xfrm>
            <a:off x="4425696" y="3950208"/>
            <a:ext cx="1645920" cy="987552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4425696" y="3950208"/>
            <a:ext cx="73152" cy="987552"/>
          </a:xfrm>
          <a:prstGeom prst="round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4590288" y="409651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RBC SHARE</a:t>
            </a:r>
            <a:endParaRPr lang="en-US" sz="850"/>
          </a:p>
        </p:txBody>
      </p:sp>
      <p:sp>
        <p:nvSpPr>
          <p:cNvPr id="28" name="Text 28"/>
          <p:cNvSpPr txBox="1"/>
          <p:nvPr/>
        </p:nvSpPr>
        <p:spPr>
          <a:xfrm>
            <a:off x="4590288" y="4352544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84.5%</a:t>
            </a:r>
            <a:endParaRPr lang="en-US" sz="2500"/>
          </a:p>
        </p:txBody>
      </p:sp>
      <p:sp>
        <p:nvSpPr>
          <p:cNvPr id="29" name="Text 29"/>
          <p:cNvSpPr txBox="1"/>
          <p:nvPr/>
        </p:nvSpPr>
        <p:spPr>
          <a:xfrm>
            <a:off x="4590288" y="484632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398 labels</a:t>
            </a:r>
            <a:endParaRPr lang="en-US" sz="850"/>
          </a:p>
        </p:txBody>
      </p:sp>
      <p:sp>
        <p:nvSpPr>
          <p:cNvPr id="30" name="Shape 30"/>
          <p:cNvSpPr/>
          <p:nvPr/>
        </p:nvSpPr>
        <p:spPr>
          <a:xfrm>
            <a:off x="6537960" y="1325880"/>
            <a:ext cx="4892040" cy="452628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pic>
        <p:nvPicPr>
          <p:cNvPr id="31" name="BloodImage_00038_jpg.rf.ffa23e4b5b55b523367f332af726eae8.jpg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7397496" y="1664208"/>
            <a:ext cx="3200400" cy="3200400"/>
          </a:xfrm>
          <a:prstGeom prst="rect">
            <a:avLst/>
          </a:prstGeom>
        </p:spPr>
      </p:pic>
      <p:sp>
        <p:nvSpPr>
          <p:cNvPr id="32" name="Text 32"/>
          <p:cNvSpPr txBox="1"/>
          <p:nvPr/>
        </p:nvSpPr>
        <p:spPr>
          <a:xfrm>
            <a:off x="6839712" y="5047488"/>
            <a:ext cx="43434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1250" b="1">
                <a:solidFill>
                  <a:srgbClr val="18212B"/>
                </a:solidFill>
                <a:latin typeface="Aptos"/>
                <a:cs typeface="Aptos"/>
              </a:rPr>
              <a:t>A single image can contain many overlapping RBC objects plus rare WBC/Platelets.</a:t>
            </a:r>
            <a:endParaRPr lang="en-US" sz="1250"/>
          </a:p>
        </p:txBody>
      </p:sp>
      <p:sp>
        <p:nvSpPr>
          <p:cNvPr id="33" name="Shape 3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Source: blood-cell-detection-datatset/README.md; CNN/outputs/eval_test_metrics.json</a:t>
            </a:r>
            <a:endParaRPr lang="en-US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03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EXPERIMENT SETUP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Two detector strategies were tested</a:t>
            </a:r>
            <a:endParaRPr lang="en-US" sz="3200"/>
          </a:p>
        </p:txBody>
      </p:sp>
      <p:sp>
        <p:nvSpPr>
          <p:cNvPr id="8" name="Shape 8"/>
          <p:cNvSpPr/>
          <p:nvPr/>
        </p:nvSpPr>
        <p:spPr>
          <a:xfrm>
            <a:off x="685800" y="1444752"/>
            <a:ext cx="5166360" cy="448056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6327648" y="1444752"/>
            <a:ext cx="5166360" cy="448056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87552" y="1773936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400" b="1">
                <a:solidFill>
                  <a:srgbClr val="E84A5F"/>
                </a:solidFill>
                <a:latin typeface="Aptos Display"/>
                <a:cs typeface="Aptos Display"/>
              </a:rPr>
              <a:t>YOLO family</a:t>
            </a:r>
            <a:endParaRPr lang="en-US" sz="2400"/>
          </a:p>
        </p:txBody>
      </p:sp>
      <p:sp>
        <p:nvSpPr>
          <p:cNvPr id="11" name="Text 11"/>
          <p:cNvSpPr txBox="1"/>
          <p:nvPr/>
        </p:nvSpPr>
        <p:spPr>
          <a:xfrm>
            <a:off x="987552" y="2340864"/>
            <a:ext cx="4443984" cy="22402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- 12 best.pt checkpoints evaluated.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Families: yolo26m, yolo11m, yolov8m, yolov8l.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Groups: 150 epochs, 500 epochs, 500 epochs with optimizer.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Ranking metric: held-out test mAP50-95, with precision/recall/F1/mAP50 reported.</a:t>
            </a:r>
            <a:endParaRPr lang="en-US" sz="1320"/>
          </a:p>
        </p:txBody>
      </p:sp>
      <p:sp>
        <p:nvSpPr>
          <p:cNvPr id="12" name="Text 12"/>
          <p:cNvSpPr txBox="1"/>
          <p:nvPr/>
        </p:nvSpPr>
        <p:spPr>
          <a:xfrm>
            <a:off x="987552" y="5074920"/>
            <a:ext cx="44439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450" b="1">
                <a:solidFill>
                  <a:srgbClr val="18212B"/>
                </a:solidFill>
                <a:latin typeface="Aptos"/>
                <a:cs typeface="Aptos"/>
              </a:rPr>
              <a:t>Best: train_results_150_epochs(yolov26m)</a:t>
            </a:r>
            <a:endParaRPr lang="en-US" sz="1450"/>
          </a:p>
        </p:txBody>
      </p:sp>
      <p:sp>
        <p:nvSpPr>
          <p:cNvPr id="13" name="Text 13"/>
          <p:cNvSpPr txBox="1"/>
          <p:nvPr/>
        </p:nvSpPr>
        <p:spPr>
          <a:xfrm>
            <a:off x="6629400" y="1773936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400" b="1">
                <a:solidFill>
                  <a:srgbClr val="00A6A6"/>
                </a:solidFill>
                <a:latin typeface="Aptos Display"/>
                <a:cs typeface="Aptos Display"/>
              </a:rPr>
              <a:t>CNN/Faster R-CNN baseline</a:t>
            </a:r>
            <a:endParaRPr lang="en-US" sz="2400"/>
          </a:p>
        </p:txBody>
      </p:sp>
      <p:sp>
        <p:nvSpPr>
          <p:cNvPr id="14" name="Text 14"/>
          <p:cNvSpPr txBox="1"/>
          <p:nvPr/>
        </p:nvSpPr>
        <p:spPr>
          <a:xfrm>
            <a:off x="6629400" y="2340864"/>
            <a:ext cx="4443984" cy="22402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One trained Faster R-CNN checkpoint.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Test evaluation on the same dataset split.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Threshold sweep searched score threshold and NMS IoU.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Best tuning objective: micro F1.</a:t>
            </a:r>
            <a:endParaRPr lang="en-US" sz="1320"/>
          </a:p>
        </p:txBody>
      </p:sp>
      <p:sp>
        <p:nvSpPr>
          <p:cNvPr id="15" name="Text 15"/>
          <p:cNvSpPr txBox="1"/>
          <p:nvPr/>
        </p:nvSpPr>
        <p:spPr>
          <a:xfrm>
            <a:off x="6629400" y="5074920"/>
            <a:ext cx="44439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450" b="1">
                <a:solidFill>
                  <a:srgbClr val="18212B"/>
                </a:solidFill>
                <a:latin typeface="Aptos"/>
                <a:cs typeface="Aptos"/>
              </a:rPr>
              <a:t>Best: score 0.65, NMS IoU 0.18</a:t>
            </a:r>
            <a:endParaRPr lang="en-US" sz="1450"/>
          </a:p>
        </p:txBody>
      </p:sp>
      <p:sp>
        <p:nvSpPr>
          <p:cNvPr id="16" name="Shape 16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Source: YOLO/README.md; CNN/README.md; CNN/outputs/sweep_results.csv</a:t>
            </a:r>
            <a:endParaRPr lang="en-US" sz="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04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HEAD-TO-HEAD METRICS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YOLO wins the shared test scoreboard</a:t>
            </a:r>
            <a:endParaRPr lang="en-US" sz="3200"/>
          </a:p>
        </p:txBody>
      </p:sp>
      <p:sp>
        <p:nvSpPr>
          <p:cNvPr id="8" name="Text 8"/>
          <p:cNvSpPr txBox="1"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300" b="1">
                <a:solidFill>
                  <a:srgbClr val="F7F1E5"/>
                </a:solidFill>
                <a:latin typeface="Aptos"/>
                <a:cs typeface="Aptos"/>
              </a:rPr>
              <a:t>Shared aggregate metrics on the same 36-image test split</a:t>
            </a:r>
            <a:endParaRPr lang="en-US" sz="1300"/>
          </a:p>
        </p:txBody>
      </p:sp>
      <p:sp>
        <p:nvSpPr>
          <p:cNvPr id="9" name="Shape 9"/>
          <p:cNvSpPr/>
          <p:nvPr/>
        </p:nvSpPr>
        <p:spPr>
          <a:xfrm>
            <a:off x="1161288" y="5157216"/>
            <a:ext cx="10195560" cy="10973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161288" y="5157216"/>
            <a:ext cx="10195560" cy="7315"/>
          </a:xfrm>
          <a:prstGeom prst="rect">
            <a:avLst/>
          </a:prstGeom>
          <a:solidFill>
            <a:srgbClr val="344050">
              <a:alpha val="45000"/>
            </a:srgbClr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58368" y="5093208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650">
                <a:solidFill>
                  <a:srgbClr val="AAB1BD"/>
                </a:solidFill>
                <a:latin typeface="Aptos"/>
                <a:cs typeface="Aptos"/>
              </a:rPr>
              <a:t>0</a:t>
            </a:r>
            <a:endParaRPr lang="en-US" sz="650"/>
          </a:p>
        </p:txBody>
      </p:sp>
      <p:sp>
        <p:nvSpPr>
          <p:cNvPr id="12" name="Shape 12"/>
          <p:cNvSpPr/>
          <p:nvPr/>
        </p:nvSpPr>
        <p:spPr>
          <a:xfrm>
            <a:off x="1161288" y="3570732"/>
            <a:ext cx="10195560" cy="7315"/>
          </a:xfrm>
          <a:prstGeom prst="rect">
            <a:avLst/>
          </a:prstGeom>
          <a:solidFill>
            <a:srgbClr val="344050">
              <a:alpha val="45000"/>
            </a:srgbClr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58368" y="3506724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650">
                <a:solidFill>
                  <a:srgbClr val="AAB1BD"/>
                </a:solidFill>
                <a:latin typeface="Aptos"/>
                <a:cs typeface="Aptos"/>
              </a:rPr>
              <a:t>50</a:t>
            </a:r>
            <a:endParaRPr lang="en-US" sz="650"/>
          </a:p>
        </p:txBody>
      </p:sp>
      <p:sp>
        <p:nvSpPr>
          <p:cNvPr id="14" name="Shape 14"/>
          <p:cNvSpPr/>
          <p:nvPr/>
        </p:nvSpPr>
        <p:spPr>
          <a:xfrm>
            <a:off x="1161288" y="1984248"/>
            <a:ext cx="10195560" cy="7315"/>
          </a:xfrm>
          <a:prstGeom prst="rect">
            <a:avLst/>
          </a:prstGeom>
          <a:solidFill>
            <a:srgbClr val="344050">
              <a:alpha val="45000"/>
            </a:srgbClr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58368" y="1920240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650">
                <a:solidFill>
                  <a:srgbClr val="AAB1BD"/>
                </a:solidFill>
                <a:latin typeface="Aptos"/>
                <a:cs typeface="Aptos"/>
              </a:rPr>
              <a:t>100</a:t>
            </a:r>
            <a:endParaRPr lang="en-US" sz="650"/>
          </a:p>
        </p:txBody>
      </p:sp>
      <p:sp>
        <p:nvSpPr>
          <p:cNvPr id="16" name="Shape 16"/>
          <p:cNvSpPr/>
          <p:nvPr/>
        </p:nvSpPr>
        <p:spPr>
          <a:xfrm>
            <a:off x="1594599" y="2637388"/>
            <a:ext cx="822846" cy="2519828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548879" y="2436220"/>
            <a:ext cx="91428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79.4%</a:t>
            </a:r>
            <a:endParaRPr lang="en-US" sz="620"/>
          </a:p>
        </p:txBody>
      </p:sp>
      <p:sp>
        <p:nvSpPr>
          <p:cNvPr id="18" name="Shape 18"/>
          <p:cNvSpPr/>
          <p:nvPr/>
        </p:nvSpPr>
        <p:spPr>
          <a:xfrm>
            <a:off x="2454021" y="2961373"/>
            <a:ext cx="822846" cy="2195843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2408301" y="2760205"/>
            <a:ext cx="91428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69.2%</a:t>
            </a:r>
            <a:endParaRPr lang="en-US" sz="620"/>
          </a:p>
        </p:txBody>
      </p:sp>
      <p:sp>
        <p:nvSpPr>
          <p:cNvPr id="20" name="Text 20"/>
          <p:cNvSpPr txBox="1"/>
          <p:nvPr/>
        </p:nvSpPr>
        <p:spPr>
          <a:xfrm>
            <a:off x="1161288" y="5239512"/>
            <a:ext cx="254889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  <a:cs typeface="Aptos"/>
              </a:rPr>
              <a:t>Precision</a:t>
            </a:r>
            <a:endParaRPr lang="en-US" sz="800"/>
          </a:p>
        </p:txBody>
      </p:sp>
      <p:sp>
        <p:nvSpPr>
          <p:cNvPr id="21" name="Shape 21"/>
          <p:cNvSpPr/>
          <p:nvPr/>
        </p:nvSpPr>
        <p:spPr>
          <a:xfrm>
            <a:off x="4143489" y="2333003"/>
            <a:ext cx="822846" cy="2824213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097769" y="2131835"/>
            <a:ext cx="91428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89.0%</a:t>
            </a:r>
            <a:endParaRPr lang="en-US" sz="620"/>
          </a:p>
        </p:txBody>
      </p:sp>
      <p:sp>
        <p:nvSpPr>
          <p:cNvPr id="23" name="Shape 23"/>
          <p:cNvSpPr/>
          <p:nvPr/>
        </p:nvSpPr>
        <p:spPr>
          <a:xfrm>
            <a:off x="5002911" y="2401922"/>
            <a:ext cx="822846" cy="2755294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4957191" y="2200754"/>
            <a:ext cx="91428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86.8%</a:t>
            </a:r>
            <a:endParaRPr lang="en-US" sz="620"/>
          </a:p>
        </p:txBody>
      </p:sp>
      <p:sp>
        <p:nvSpPr>
          <p:cNvPr id="25" name="Text 25"/>
          <p:cNvSpPr txBox="1"/>
          <p:nvPr/>
        </p:nvSpPr>
        <p:spPr>
          <a:xfrm>
            <a:off x="3710178" y="5239512"/>
            <a:ext cx="254889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  <a:cs typeface="Aptos"/>
              </a:rPr>
              <a:t>Recall</a:t>
            </a:r>
            <a:endParaRPr lang="en-US" sz="800"/>
          </a:p>
        </p:txBody>
      </p:sp>
      <p:sp>
        <p:nvSpPr>
          <p:cNvPr id="26" name="Shape 26"/>
          <p:cNvSpPr/>
          <p:nvPr/>
        </p:nvSpPr>
        <p:spPr>
          <a:xfrm>
            <a:off x="6692379" y="2493864"/>
            <a:ext cx="822846" cy="2663352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6646659" y="2292696"/>
            <a:ext cx="91428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83.9%</a:t>
            </a:r>
            <a:endParaRPr lang="en-US" sz="620"/>
          </a:p>
        </p:txBody>
      </p:sp>
      <p:sp>
        <p:nvSpPr>
          <p:cNvPr id="28" name="Shape 28"/>
          <p:cNvSpPr/>
          <p:nvPr/>
        </p:nvSpPr>
        <p:spPr>
          <a:xfrm>
            <a:off x="7551801" y="2713253"/>
            <a:ext cx="822846" cy="2443963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7506081" y="2512085"/>
            <a:ext cx="91428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77.0%</a:t>
            </a:r>
            <a:endParaRPr lang="en-US" sz="620"/>
          </a:p>
        </p:txBody>
      </p:sp>
      <p:sp>
        <p:nvSpPr>
          <p:cNvPr id="30" name="Text 30"/>
          <p:cNvSpPr txBox="1"/>
          <p:nvPr/>
        </p:nvSpPr>
        <p:spPr>
          <a:xfrm>
            <a:off x="6259068" y="5239512"/>
            <a:ext cx="254889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  <a:cs typeface="Aptos"/>
              </a:rPr>
              <a:t>F1</a:t>
            </a:r>
            <a:endParaRPr lang="en-US" sz="800"/>
          </a:p>
        </p:txBody>
      </p:sp>
      <p:sp>
        <p:nvSpPr>
          <p:cNvPr id="31" name="Shape 31"/>
          <p:cNvSpPr/>
          <p:nvPr/>
        </p:nvSpPr>
        <p:spPr>
          <a:xfrm>
            <a:off x="9241269" y="2326565"/>
            <a:ext cx="822846" cy="2830651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9195549" y="2125397"/>
            <a:ext cx="91428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89.2%</a:t>
            </a:r>
            <a:endParaRPr lang="en-US" sz="620"/>
          </a:p>
        </p:txBody>
      </p:sp>
      <p:sp>
        <p:nvSpPr>
          <p:cNvPr id="33" name="Shape 33"/>
          <p:cNvSpPr/>
          <p:nvPr/>
        </p:nvSpPr>
        <p:spPr>
          <a:xfrm>
            <a:off x="10100691" y="2453739"/>
            <a:ext cx="822846" cy="2703477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10054971" y="2252571"/>
            <a:ext cx="91428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85.2%</a:t>
            </a:r>
            <a:endParaRPr lang="en-US" sz="620"/>
          </a:p>
        </p:txBody>
      </p:sp>
      <p:sp>
        <p:nvSpPr>
          <p:cNvPr id="35" name="Text 35"/>
          <p:cNvSpPr txBox="1"/>
          <p:nvPr/>
        </p:nvSpPr>
        <p:spPr>
          <a:xfrm>
            <a:off x="8807958" y="5239512"/>
            <a:ext cx="254889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  <a:cs typeface="Aptos"/>
              </a:rPr>
              <a:t>mAP50</a:t>
            </a:r>
            <a:endParaRPr lang="en-US" sz="800"/>
          </a:p>
        </p:txBody>
      </p:sp>
      <p:sp>
        <p:nvSpPr>
          <p:cNvPr id="36" name="Shape 36"/>
          <p:cNvSpPr/>
          <p:nvPr/>
        </p:nvSpPr>
        <p:spPr>
          <a:xfrm>
            <a:off x="9482328" y="1828800"/>
            <a:ext cx="128016" cy="128016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9683496" y="1810512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80">
                <a:solidFill>
                  <a:srgbClr val="FFFFFF"/>
                </a:solidFill>
                <a:latin typeface="Aptos"/>
                <a:cs typeface="Aptos"/>
              </a:rPr>
              <a:t>YOLO best</a:t>
            </a:r>
            <a:endParaRPr lang="en-US" sz="780"/>
          </a:p>
        </p:txBody>
      </p:sp>
      <p:sp>
        <p:nvSpPr>
          <p:cNvPr id="38" name="Shape 38"/>
          <p:cNvSpPr/>
          <p:nvPr/>
        </p:nvSpPr>
        <p:spPr>
          <a:xfrm>
            <a:off x="9482328" y="2048256"/>
            <a:ext cx="128016" cy="128016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683496" y="2029968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80">
                <a:solidFill>
                  <a:srgbClr val="FFFFFF"/>
                </a:solidFill>
                <a:latin typeface="Aptos"/>
                <a:cs typeface="Aptos"/>
              </a:rPr>
              <a:t>CNN tuned</a:t>
            </a:r>
            <a:endParaRPr lang="en-US" sz="780"/>
          </a:p>
        </p:txBody>
      </p:sp>
      <p:sp>
        <p:nvSpPr>
          <p:cNvPr id="40" name="Text 40"/>
          <p:cNvSpPr txBox="1"/>
          <p:nvPr/>
        </p:nvSpPr>
        <p:spPr>
          <a:xfrm>
            <a:off x="932688" y="5833872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1350" b="1">
                <a:solidFill>
                  <a:srgbClr val="F6C85F"/>
                </a:solidFill>
                <a:latin typeface="Aptos"/>
                <a:cs typeface="Aptos"/>
              </a:rPr>
              <a:t>The largest gap is precision: YOLO reduces the practical risk of extra false detections while still holding slightly higher recall.</a:t>
            </a:r>
            <a:endParaRPr lang="en-US" sz="1350"/>
          </a:p>
        </p:txBody>
      </p:sp>
      <p:sp>
        <p:nvSpPr>
          <p:cNvPr id="41" name="Shape 41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Source: YOLO/test/runs/best_pt_validation_summary_20260513_005420.csv; CNN/outputs/eval_test_metrics.json</a:t>
            </a:r>
            <a:endParaRPr lang="en-US" sz="7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05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YOLO MODEL SEARCH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The best YOLO was not the longest run</a:t>
            </a:r>
            <a:endParaRPr lang="en-US" sz="3200"/>
          </a:p>
        </p:txBody>
      </p:sp>
      <p:sp>
        <p:nvSpPr>
          <p:cNvPr id="8" name="Text 8"/>
          <p:cNvSpPr txBox="1"/>
          <p:nvPr/>
        </p:nvSpPr>
        <p:spPr>
          <a:xfrm>
            <a:off x="658368" y="1298448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10" b="1">
                <a:solidFill>
                  <a:srgbClr val="FFFFFF"/>
                </a:solidFill>
                <a:latin typeface="Aptos"/>
                <a:cs typeface="Aptos"/>
              </a:rPr>
              <a:t>150_epochs(yolov26m)</a:t>
            </a:r>
            <a:endParaRPr lang="en-US" sz="710"/>
          </a:p>
        </p:txBody>
      </p:sp>
      <p:sp>
        <p:nvSpPr>
          <p:cNvPr id="9" name="Shape 9"/>
          <p:cNvSpPr/>
          <p:nvPr/>
        </p:nvSpPr>
        <p:spPr>
          <a:xfrm>
            <a:off x="3090672" y="1325880"/>
            <a:ext cx="3465576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3090672" y="1325880"/>
            <a:ext cx="3309005" cy="237744"/>
          </a:xfrm>
          <a:prstGeom prst="round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629400" y="129844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10" b="1">
                <a:solidFill>
                  <a:srgbClr val="FFFFFF"/>
                </a:solidFill>
                <a:latin typeface="Aptos"/>
                <a:cs typeface="Aptos"/>
              </a:rPr>
              <a:t>61.1%</a:t>
            </a:r>
            <a:endParaRPr lang="en-US" sz="710"/>
          </a:p>
        </p:txBody>
      </p:sp>
      <p:sp>
        <p:nvSpPr>
          <p:cNvPr id="12" name="Text 12"/>
          <p:cNvSpPr txBox="1"/>
          <p:nvPr/>
        </p:nvSpPr>
        <p:spPr>
          <a:xfrm>
            <a:off x="658368" y="1869948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10">
                <a:solidFill>
                  <a:srgbClr val="AAB1BD"/>
                </a:solidFill>
                <a:latin typeface="Aptos"/>
                <a:cs typeface="Aptos"/>
              </a:rPr>
              <a:t>500epochs(yolov8m)</a:t>
            </a:r>
            <a:endParaRPr lang="en-US" sz="710"/>
          </a:p>
        </p:txBody>
      </p:sp>
      <p:sp>
        <p:nvSpPr>
          <p:cNvPr id="13" name="Shape 13"/>
          <p:cNvSpPr/>
          <p:nvPr/>
        </p:nvSpPr>
        <p:spPr>
          <a:xfrm>
            <a:off x="3090672" y="1897380"/>
            <a:ext cx="3465576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3090672" y="1897380"/>
            <a:ext cx="3253346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629400" y="186994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10" b="1">
                <a:solidFill>
                  <a:srgbClr val="FFFFFF"/>
                </a:solidFill>
                <a:latin typeface="Aptos"/>
                <a:cs typeface="Aptos"/>
              </a:rPr>
              <a:t>60.1%</a:t>
            </a:r>
            <a:endParaRPr lang="en-US" sz="710"/>
          </a:p>
        </p:txBody>
      </p:sp>
      <p:sp>
        <p:nvSpPr>
          <p:cNvPr id="16" name="Text 16"/>
          <p:cNvSpPr txBox="1"/>
          <p:nvPr/>
        </p:nvSpPr>
        <p:spPr>
          <a:xfrm>
            <a:off x="658368" y="2441448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10">
                <a:solidFill>
                  <a:srgbClr val="AAB1BD"/>
                </a:solidFill>
                <a:latin typeface="Aptos"/>
                <a:cs typeface="Aptos"/>
              </a:rPr>
              <a:t>500epochs+opt(yolov8m)</a:t>
            </a:r>
            <a:endParaRPr lang="en-US" sz="710"/>
          </a:p>
        </p:txBody>
      </p:sp>
      <p:sp>
        <p:nvSpPr>
          <p:cNvPr id="17" name="Shape 17"/>
          <p:cNvSpPr/>
          <p:nvPr/>
        </p:nvSpPr>
        <p:spPr>
          <a:xfrm>
            <a:off x="3090672" y="2468880"/>
            <a:ext cx="3465576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3090672" y="2468880"/>
            <a:ext cx="3253346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29400" y="244144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10" b="1">
                <a:solidFill>
                  <a:srgbClr val="FFFFFF"/>
                </a:solidFill>
                <a:latin typeface="Aptos"/>
                <a:cs typeface="Aptos"/>
              </a:rPr>
              <a:t>60.1%</a:t>
            </a:r>
            <a:endParaRPr lang="en-US" sz="710"/>
          </a:p>
        </p:txBody>
      </p:sp>
      <p:sp>
        <p:nvSpPr>
          <p:cNvPr id="20" name="Text 20"/>
          <p:cNvSpPr txBox="1"/>
          <p:nvPr/>
        </p:nvSpPr>
        <p:spPr>
          <a:xfrm>
            <a:off x="658368" y="3012948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10">
                <a:solidFill>
                  <a:srgbClr val="AAB1BD"/>
                </a:solidFill>
                <a:latin typeface="Aptos"/>
                <a:cs typeface="Aptos"/>
              </a:rPr>
              <a:t>150_epochs(yolov11m)</a:t>
            </a:r>
            <a:endParaRPr lang="en-US" sz="710"/>
          </a:p>
        </p:txBody>
      </p:sp>
      <p:sp>
        <p:nvSpPr>
          <p:cNvPr id="21" name="Shape 21"/>
          <p:cNvSpPr/>
          <p:nvPr/>
        </p:nvSpPr>
        <p:spPr>
          <a:xfrm>
            <a:off x="3090672" y="3040380"/>
            <a:ext cx="3465576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3090672" y="3040380"/>
            <a:ext cx="3231541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629400" y="301294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10" b="1">
                <a:solidFill>
                  <a:srgbClr val="FFFFFF"/>
                </a:solidFill>
                <a:latin typeface="Aptos"/>
                <a:cs typeface="Aptos"/>
              </a:rPr>
              <a:t>59.7%</a:t>
            </a:r>
            <a:endParaRPr lang="en-US" sz="710"/>
          </a:p>
        </p:txBody>
      </p:sp>
      <p:sp>
        <p:nvSpPr>
          <p:cNvPr id="24" name="Text 24"/>
          <p:cNvSpPr txBox="1"/>
          <p:nvPr/>
        </p:nvSpPr>
        <p:spPr>
          <a:xfrm>
            <a:off x="658368" y="3584448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10">
                <a:solidFill>
                  <a:srgbClr val="AAB1BD"/>
                </a:solidFill>
                <a:latin typeface="Aptos"/>
                <a:cs typeface="Aptos"/>
              </a:rPr>
              <a:t>150_epochs(yolov8m)</a:t>
            </a:r>
            <a:endParaRPr lang="en-US" sz="710"/>
          </a:p>
        </p:txBody>
      </p:sp>
      <p:sp>
        <p:nvSpPr>
          <p:cNvPr id="25" name="Shape 25"/>
          <p:cNvSpPr/>
          <p:nvPr/>
        </p:nvSpPr>
        <p:spPr>
          <a:xfrm>
            <a:off x="3090672" y="3611880"/>
            <a:ext cx="3465576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3090672" y="3611880"/>
            <a:ext cx="3226993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6629400" y="358444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10" b="1">
                <a:solidFill>
                  <a:srgbClr val="FFFFFF"/>
                </a:solidFill>
                <a:latin typeface="Aptos"/>
                <a:cs typeface="Aptos"/>
              </a:rPr>
              <a:t>59.6%</a:t>
            </a:r>
            <a:endParaRPr lang="en-US" sz="710"/>
          </a:p>
        </p:txBody>
      </p:sp>
      <p:sp>
        <p:nvSpPr>
          <p:cNvPr id="28" name="Text 28"/>
          <p:cNvSpPr txBox="1"/>
          <p:nvPr/>
        </p:nvSpPr>
        <p:spPr>
          <a:xfrm>
            <a:off x="658368" y="4155948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10">
                <a:solidFill>
                  <a:srgbClr val="AAB1BD"/>
                </a:solidFill>
                <a:latin typeface="Aptos"/>
                <a:cs typeface="Aptos"/>
              </a:rPr>
              <a:t>150_epochs(yolov8l)</a:t>
            </a:r>
            <a:endParaRPr lang="en-US" sz="710"/>
          </a:p>
        </p:txBody>
      </p:sp>
      <p:sp>
        <p:nvSpPr>
          <p:cNvPr id="29" name="Shape 29"/>
          <p:cNvSpPr/>
          <p:nvPr/>
        </p:nvSpPr>
        <p:spPr>
          <a:xfrm>
            <a:off x="3090672" y="4183380"/>
            <a:ext cx="3465576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3090672" y="4183380"/>
            <a:ext cx="3207291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6629400" y="415594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10" b="1">
                <a:solidFill>
                  <a:srgbClr val="FFFFFF"/>
                </a:solidFill>
                <a:latin typeface="Aptos"/>
                <a:cs typeface="Aptos"/>
              </a:rPr>
              <a:t>59.2%</a:t>
            </a:r>
            <a:endParaRPr lang="en-US" sz="710"/>
          </a:p>
        </p:txBody>
      </p:sp>
      <p:sp>
        <p:nvSpPr>
          <p:cNvPr id="32" name="Text 32"/>
          <p:cNvSpPr txBox="1"/>
          <p:nvPr/>
        </p:nvSpPr>
        <p:spPr>
          <a:xfrm>
            <a:off x="658368" y="4727448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10">
                <a:solidFill>
                  <a:srgbClr val="AAB1BD"/>
                </a:solidFill>
                <a:latin typeface="Aptos"/>
                <a:cs typeface="Aptos"/>
              </a:rPr>
              <a:t>500epochs(yolov11m)</a:t>
            </a:r>
            <a:endParaRPr lang="en-US" sz="710"/>
          </a:p>
        </p:txBody>
      </p:sp>
      <p:sp>
        <p:nvSpPr>
          <p:cNvPr id="33" name="Shape 33"/>
          <p:cNvSpPr/>
          <p:nvPr/>
        </p:nvSpPr>
        <p:spPr>
          <a:xfrm>
            <a:off x="3090672" y="4754880"/>
            <a:ext cx="3465576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3090672" y="4754880"/>
            <a:ext cx="3204711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6629400" y="472744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10" b="1">
                <a:solidFill>
                  <a:srgbClr val="FFFFFF"/>
                </a:solidFill>
                <a:latin typeface="Aptos"/>
                <a:cs typeface="Aptos"/>
              </a:rPr>
              <a:t>59.2%</a:t>
            </a:r>
            <a:endParaRPr lang="en-US" sz="710"/>
          </a:p>
        </p:txBody>
      </p:sp>
      <p:sp>
        <p:nvSpPr>
          <p:cNvPr id="36" name="Text 36"/>
          <p:cNvSpPr txBox="1"/>
          <p:nvPr/>
        </p:nvSpPr>
        <p:spPr>
          <a:xfrm>
            <a:off x="658368" y="5298948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10">
                <a:solidFill>
                  <a:srgbClr val="AAB1BD"/>
                </a:solidFill>
                <a:latin typeface="Aptos"/>
                <a:cs typeface="Aptos"/>
              </a:rPr>
              <a:t>500epochs+opt(yolo11m)</a:t>
            </a:r>
            <a:endParaRPr lang="en-US" sz="710"/>
          </a:p>
        </p:txBody>
      </p:sp>
      <p:sp>
        <p:nvSpPr>
          <p:cNvPr id="37" name="Shape 37"/>
          <p:cNvSpPr/>
          <p:nvPr/>
        </p:nvSpPr>
        <p:spPr>
          <a:xfrm>
            <a:off x="3090672" y="5326380"/>
            <a:ext cx="3465576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38" name="Shape 38"/>
          <p:cNvSpPr/>
          <p:nvPr/>
        </p:nvSpPr>
        <p:spPr>
          <a:xfrm>
            <a:off x="3090672" y="5326380"/>
            <a:ext cx="3204711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6629400" y="5298948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10" b="1">
                <a:solidFill>
                  <a:srgbClr val="FFFFFF"/>
                </a:solidFill>
                <a:latin typeface="Aptos"/>
                <a:cs typeface="Aptos"/>
              </a:rPr>
              <a:t>59.2%</a:t>
            </a:r>
            <a:endParaRPr lang="en-US" sz="710"/>
          </a:p>
        </p:txBody>
      </p:sp>
      <p:sp>
        <p:nvSpPr>
          <p:cNvPr id="40" name="Shape 40"/>
          <p:cNvSpPr/>
          <p:nvPr/>
        </p:nvSpPr>
        <p:spPr>
          <a:xfrm>
            <a:off x="7360920" y="1417320"/>
            <a:ext cx="4251960" cy="434340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7635240" y="1737360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200" b="1">
                <a:solidFill>
                  <a:srgbClr val="18212B"/>
                </a:solidFill>
                <a:latin typeface="Aptos Display"/>
                <a:cs typeface="Aptos Display"/>
              </a:rPr>
              <a:t>Pattern</a:t>
            </a:r>
            <a:endParaRPr lang="en-US" sz="2200"/>
          </a:p>
        </p:txBody>
      </p:sp>
      <p:sp>
        <p:nvSpPr>
          <p:cNvPr id="42" name="Text 42"/>
          <p:cNvSpPr txBox="1"/>
          <p:nvPr/>
        </p:nvSpPr>
        <p:spPr>
          <a:xfrm>
            <a:off x="7635240" y="2359152"/>
            <a:ext cx="361188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Top held-out model: yolo26m at 150 epochs.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- 500-epoch runs did not exceed the top 150-epoch result.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- Optimizer-labeled duplicates matched their paired 500-epoch runs in this summary.</a:t>
            </a:r>
            <a:endParaRPr lang="en-US" sz="1320"/>
          </a:p>
        </p:txBody>
      </p:sp>
      <p:sp>
        <p:nvSpPr>
          <p:cNvPr id="43" name="Shape 43"/>
          <p:cNvSpPr/>
          <p:nvPr/>
        </p:nvSpPr>
        <p:spPr>
          <a:xfrm>
            <a:off x="7635240" y="4553712"/>
            <a:ext cx="1737360" cy="822960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44" name="Shape 44"/>
          <p:cNvSpPr/>
          <p:nvPr/>
        </p:nvSpPr>
        <p:spPr>
          <a:xfrm>
            <a:off x="7635240" y="4553712"/>
            <a:ext cx="73152" cy="822960"/>
          </a:xfrm>
          <a:prstGeom prst="round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7799832" y="47000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BEST MAP50-95</a:t>
            </a:r>
            <a:endParaRPr lang="en-US" sz="850"/>
          </a:p>
        </p:txBody>
      </p:sp>
      <p:sp>
        <p:nvSpPr>
          <p:cNvPr id="46" name="Text 46"/>
          <p:cNvSpPr txBox="1"/>
          <p:nvPr/>
        </p:nvSpPr>
        <p:spPr>
          <a:xfrm>
            <a:off x="7799832" y="495604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61.1%</a:t>
            </a:r>
            <a:endParaRPr lang="en-US" sz="2500"/>
          </a:p>
        </p:txBody>
      </p:sp>
      <p:sp>
        <p:nvSpPr>
          <p:cNvPr id="47" name="Text 47"/>
          <p:cNvSpPr txBox="1"/>
          <p:nvPr/>
        </p:nvSpPr>
        <p:spPr>
          <a:xfrm>
            <a:off x="7799832" y="544982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strict YOLO metric</a:t>
            </a:r>
            <a:endParaRPr lang="en-US" sz="850"/>
          </a:p>
        </p:txBody>
      </p:sp>
      <p:sp>
        <p:nvSpPr>
          <p:cNvPr id="48" name="Shape 48"/>
          <p:cNvSpPr/>
          <p:nvPr/>
        </p:nvSpPr>
        <p:spPr>
          <a:xfrm>
            <a:off x="9555480" y="4553712"/>
            <a:ext cx="1737360" cy="822960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49" name="Shape 49"/>
          <p:cNvSpPr/>
          <p:nvPr/>
        </p:nvSpPr>
        <p:spPr>
          <a:xfrm>
            <a:off x="9555480" y="4553712"/>
            <a:ext cx="73152" cy="82296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50" name="Text 50"/>
          <p:cNvSpPr txBox="1"/>
          <p:nvPr/>
        </p:nvSpPr>
        <p:spPr>
          <a:xfrm>
            <a:off x="9720072" y="47000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BEST EPOCH</a:t>
            </a:r>
            <a:endParaRPr lang="en-US" sz="850"/>
          </a:p>
        </p:txBody>
      </p:sp>
      <p:sp>
        <p:nvSpPr>
          <p:cNvPr id="51" name="Text 51"/>
          <p:cNvSpPr txBox="1"/>
          <p:nvPr/>
        </p:nvSpPr>
        <p:spPr>
          <a:xfrm>
            <a:off x="9720072" y="495604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73</a:t>
            </a:r>
            <a:endParaRPr lang="en-US" sz="2500"/>
          </a:p>
        </p:txBody>
      </p:sp>
      <p:sp>
        <p:nvSpPr>
          <p:cNvPr id="52" name="Text 52"/>
          <p:cNvSpPr txBox="1"/>
          <p:nvPr/>
        </p:nvSpPr>
        <p:spPr>
          <a:xfrm>
            <a:off x="9720072" y="544982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within run</a:t>
            </a:r>
            <a:endParaRPr lang="en-US" sz="850"/>
          </a:p>
        </p:txBody>
      </p:sp>
      <p:sp>
        <p:nvSpPr>
          <p:cNvPr id="53" name="Shape 53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54" name="Text 54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Source: YOLO/test/runs/best_pt_validation_summary_20260513_005420.csv</a:t>
            </a:r>
            <a:endParaRPr lang="en-US" sz="7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06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TRAIN VS TEST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Generalization separates the contenders</a:t>
            </a:r>
            <a:endParaRPr lang="en-US" sz="3200"/>
          </a:p>
        </p:txBody>
      </p:sp>
      <p:sp>
        <p:nvSpPr>
          <p:cNvPr id="8" name="Shape 8"/>
          <p:cNvSpPr/>
          <p:nvPr/>
        </p:nvSpPr>
        <p:spPr>
          <a:xfrm>
            <a:off x="1033272" y="5129784"/>
            <a:ext cx="5806440" cy="10973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033272" y="5129784"/>
            <a:ext cx="5806440" cy="7315"/>
          </a:xfrm>
          <a:prstGeom prst="rect">
            <a:avLst/>
          </a:prstGeom>
          <a:solidFill>
            <a:srgbClr val="344050">
              <a:alpha val="45000"/>
            </a:srgbClr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30352" y="5065776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650">
                <a:solidFill>
                  <a:srgbClr val="AAB1BD"/>
                </a:solidFill>
                <a:latin typeface="Aptos"/>
                <a:cs typeface="Aptos"/>
              </a:rPr>
              <a:t>0</a:t>
            </a:r>
            <a:endParaRPr lang="en-US" sz="650"/>
          </a:p>
        </p:txBody>
      </p:sp>
      <p:sp>
        <p:nvSpPr>
          <p:cNvPr id="11" name="Shape 11"/>
          <p:cNvSpPr/>
          <p:nvPr/>
        </p:nvSpPr>
        <p:spPr>
          <a:xfrm>
            <a:off x="1033272" y="2667435"/>
            <a:ext cx="5806440" cy="7315"/>
          </a:xfrm>
          <a:prstGeom prst="rect">
            <a:avLst/>
          </a:prstGeom>
          <a:solidFill>
            <a:srgbClr val="344050">
              <a:alpha val="45000"/>
            </a:srgbClr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30352" y="2603427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650">
                <a:solidFill>
                  <a:srgbClr val="AAB1BD"/>
                </a:solidFill>
                <a:latin typeface="Aptos"/>
                <a:cs typeface="Aptos"/>
              </a:rPr>
              <a:t>50</a:t>
            </a:r>
            <a:endParaRPr lang="en-US" sz="650"/>
          </a:p>
        </p:txBody>
      </p:sp>
      <p:sp>
        <p:nvSpPr>
          <p:cNvPr id="13" name="Shape 13"/>
          <p:cNvSpPr/>
          <p:nvPr/>
        </p:nvSpPr>
        <p:spPr>
          <a:xfrm>
            <a:off x="1033272" y="205087"/>
            <a:ext cx="5806440" cy="7315"/>
          </a:xfrm>
          <a:prstGeom prst="rect">
            <a:avLst/>
          </a:prstGeom>
          <a:solidFill>
            <a:srgbClr val="344050">
              <a:alpha val="45000"/>
            </a:srgbClr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530352" y="141079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650">
                <a:solidFill>
                  <a:srgbClr val="AAB1BD"/>
                </a:solidFill>
                <a:latin typeface="Aptos"/>
                <a:cs typeface="Aptos"/>
              </a:rPr>
              <a:t>100</a:t>
            </a:r>
            <a:endParaRPr lang="en-US" sz="650"/>
          </a:p>
        </p:txBody>
      </p:sp>
      <p:sp>
        <p:nvSpPr>
          <p:cNvPr id="15" name="Shape 15"/>
          <p:cNvSpPr/>
          <p:nvPr/>
        </p:nvSpPr>
        <p:spPr>
          <a:xfrm>
            <a:off x="1197788" y="1950449"/>
            <a:ext cx="301066" cy="3179335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152068" y="1749281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64.6%</a:t>
            </a:r>
            <a:endParaRPr lang="en-US" sz="620"/>
          </a:p>
        </p:txBody>
      </p:sp>
      <p:sp>
        <p:nvSpPr>
          <p:cNvPr id="17" name="Shape 17"/>
          <p:cNvSpPr/>
          <p:nvPr/>
        </p:nvSpPr>
        <p:spPr>
          <a:xfrm>
            <a:off x="1535430" y="2120373"/>
            <a:ext cx="301066" cy="3009411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1489710" y="1919205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61.1%</a:t>
            </a:r>
            <a:endParaRPr lang="en-US" sz="620"/>
          </a:p>
        </p:txBody>
      </p:sp>
      <p:sp>
        <p:nvSpPr>
          <p:cNvPr id="19" name="Text 19"/>
          <p:cNvSpPr txBox="1"/>
          <p:nvPr/>
        </p:nvSpPr>
        <p:spPr>
          <a:xfrm>
            <a:off x="1033272" y="5212080"/>
            <a:ext cx="9677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  <a:cs typeface="Aptos"/>
              </a:rPr>
              <a:t>yolo26m (150)</a:t>
            </a:r>
            <a:endParaRPr lang="en-US" sz="800"/>
          </a:p>
        </p:txBody>
      </p:sp>
      <p:sp>
        <p:nvSpPr>
          <p:cNvPr id="20" name="Shape 20"/>
          <p:cNvSpPr/>
          <p:nvPr/>
        </p:nvSpPr>
        <p:spPr>
          <a:xfrm>
            <a:off x="2165528" y="1942766"/>
            <a:ext cx="301066" cy="3187018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2119808" y="1741598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64.7%</a:t>
            </a:r>
            <a:endParaRPr lang="en-US" sz="620"/>
          </a:p>
        </p:txBody>
      </p:sp>
      <p:sp>
        <p:nvSpPr>
          <p:cNvPr id="22" name="Shape 22"/>
          <p:cNvSpPr/>
          <p:nvPr/>
        </p:nvSpPr>
        <p:spPr>
          <a:xfrm>
            <a:off x="2503170" y="2170993"/>
            <a:ext cx="301066" cy="2958791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2457450" y="1969825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60.1%</a:t>
            </a:r>
            <a:endParaRPr lang="en-US" sz="620"/>
          </a:p>
        </p:txBody>
      </p:sp>
      <p:sp>
        <p:nvSpPr>
          <p:cNvPr id="24" name="Text 24"/>
          <p:cNvSpPr txBox="1"/>
          <p:nvPr/>
        </p:nvSpPr>
        <p:spPr>
          <a:xfrm>
            <a:off x="2001012" y="5212080"/>
            <a:ext cx="9677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  <a:cs typeface="Aptos"/>
              </a:rPr>
              <a:t>yolov8m (500)</a:t>
            </a:r>
            <a:endParaRPr lang="en-US" sz="800"/>
          </a:p>
        </p:txBody>
      </p:sp>
      <p:sp>
        <p:nvSpPr>
          <p:cNvPr id="25" name="Shape 25"/>
          <p:cNvSpPr/>
          <p:nvPr/>
        </p:nvSpPr>
        <p:spPr>
          <a:xfrm>
            <a:off x="3133268" y="1942766"/>
            <a:ext cx="301066" cy="3187018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3087548" y="1741598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64.7%</a:t>
            </a:r>
            <a:endParaRPr lang="en-US" sz="620"/>
          </a:p>
        </p:txBody>
      </p:sp>
      <p:sp>
        <p:nvSpPr>
          <p:cNvPr id="27" name="Shape 27"/>
          <p:cNvSpPr/>
          <p:nvPr/>
        </p:nvSpPr>
        <p:spPr>
          <a:xfrm>
            <a:off x="3470910" y="2170993"/>
            <a:ext cx="301066" cy="2958791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3425190" y="1969825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60.1%</a:t>
            </a:r>
            <a:endParaRPr lang="en-US" sz="620"/>
          </a:p>
        </p:txBody>
      </p:sp>
      <p:sp>
        <p:nvSpPr>
          <p:cNvPr id="29" name="Text 29"/>
          <p:cNvSpPr txBox="1"/>
          <p:nvPr/>
        </p:nvSpPr>
        <p:spPr>
          <a:xfrm>
            <a:off x="2968752" y="5212080"/>
            <a:ext cx="9677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  <a:cs typeface="Aptos"/>
              </a:rPr>
              <a:t>yolov8m (500+opt)</a:t>
            </a:r>
            <a:endParaRPr lang="en-US" sz="800"/>
          </a:p>
        </p:txBody>
      </p:sp>
      <p:sp>
        <p:nvSpPr>
          <p:cNvPr id="30" name="Shape 30"/>
          <p:cNvSpPr/>
          <p:nvPr/>
        </p:nvSpPr>
        <p:spPr>
          <a:xfrm>
            <a:off x="4101008" y="1887954"/>
            <a:ext cx="301066" cy="3241830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4055288" y="1686786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65.8%</a:t>
            </a:r>
            <a:endParaRPr lang="en-US" sz="620"/>
          </a:p>
        </p:txBody>
      </p:sp>
      <p:sp>
        <p:nvSpPr>
          <p:cNvPr id="32" name="Shape 32"/>
          <p:cNvSpPr/>
          <p:nvPr/>
        </p:nvSpPr>
        <p:spPr>
          <a:xfrm>
            <a:off x="4438650" y="2190824"/>
            <a:ext cx="301066" cy="2938960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392930" y="1989656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59.7%</a:t>
            </a:r>
            <a:endParaRPr lang="en-US" sz="620"/>
          </a:p>
        </p:txBody>
      </p:sp>
      <p:sp>
        <p:nvSpPr>
          <p:cNvPr id="34" name="Text 34"/>
          <p:cNvSpPr txBox="1"/>
          <p:nvPr/>
        </p:nvSpPr>
        <p:spPr>
          <a:xfrm>
            <a:off x="3936492" y="5212080"/>
            <a:ext cx="9677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  <a:cs typeface="Aptos"/>
              </a:rPr>
              <a:t>yolo11m (150)</a:t>
            </a:r>
            <a:endParaRPr lang="en-US" sz="800"/>
          </a:p>
        </p:txBody>
      </p:sp>
      <p:sp>
        <p:nvSpPr>
          <p:cNvPr id="35" name="Shape 35"/>
          <p:cNvSpPr/>
          <p:nvPr/>
        </p:nvSpPr>
        <p:spPr>
          <a:xfrm>
            <a:off x="5068748" y="1919472"/>
            <a:ext cx="301066" cy="3210312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5023028" y="1718304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65.2%</a:t>
            </a:r>
            <a:endParaRPr lang="en-US" sz="620"/>
          </a:p>
        </p:txBody>
      </p:sp>
      <p:sp>
        <p:nvSpPr>
          <p:cNvPr id="37" name="Shape 37"/>
          <p:cNvSpPr/>
          <p:nvPr/>
        </p:nvSpPr>
        <p:spPr>
          <a:xfrm>
            <a:off x="5406390" y="2194960"/>
            <a:ext cx="301066" cy="2934824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5360670" y="1993792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59.6%</a:t>
            </a:r>
            <a:endParaRPr lang="en-US" sz="620"/>
          </a:p>
        </p:txBody>
      </p:sp>
      <p:sp>
        <p:nvSpPr>
          <p:cNvPr id="39" name="Text 39"/>
          <p:cNvSpPr txBox="1"/>
          <p:nvPr/>
        </p:nvSpPr>
        <p:spPr>
          <a:xfrm>
            <a:off x="4904232" y="5212080"/>
            <a:ext cx="9677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  <a:cs typeface="Aptos"/>
              </a:rPr>
              <a:t>yolov8m (150)</a:t>
            </a:r>
            <a:endParaRPr lang="en-US" sz="800"/>
          </a:p>
        </p:txBody>
      </p:sp>
      <p:sp>
        <p:nvSpPr>
          <p:cNvPr id="40" name="Shape 40"/>
          <p:cNvSpPr/>
          <p:nvPr/>
        </p:nvSpPr>
        <p:spPr>
          <a:xfrm>
            <a:off x="6036488" y="1907259"/>
            <a:ext cx="301066" cy="3222525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5990768" y="1706091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65.4%</a:t>
            </a:r>
            <a:endParaRPr lang="en-US" sz="620"/>
          </a:p>
        </p:txBody>
      </p:sp>
      <p:sp>
        <p:nvSpPr>
          <p:cNvPr id="42" name="Shape 42"/>
          <p:cNvSpPr/>
          <p:nvPr/>
        </p:nvSpPr>
        <p:spPr>
          <a:xfrm>
            <a:off x="6374130" y="2212878"/>
            <a:ext cx="301066" cy="2916906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6328410" y="2011710"/>
            <a:ext cx="392506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FFFFFF"/>
                </a:solidFill>
                <a:latin typeface="Aptos"/>
                <a:cs typeface="Aptos"/>
              </a:rPr>
              <a:t>59.2%</a:t>
            </a:r>
            <a:endParaRPr lang="en-US" sz="620"/>
          </a:p>
        </p:txBody>
      </p:sp>
      <p:sp>
        <p:nvSpPr>
          <p:cNvPr id="44" name="Text 44"/>
          <p:cNvSpPr txBox="1"/>
          <p:nvPr/>
        </p:nvSpPr>
        <p:spPr>
          <a:xfrm>
            <a:off x="5871972" y="5212080"/>
            <a:ext cx="9677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  <a:cs typeface="Aptos"/>
              </a:rPr>
              <a:t>yolov8l (150)</a:t>
            </a:r>
            <a:endParaRPr lang="en-US" sz="800"/>
          </a:p>
        </p:txBody>
      </p:sp>
      <p:sp>
        <p:nvSpPr>
          <p:cNvPr id="45" name="Shape 45"/>
          <p:cNvSpPr/>
          <p:nvPr/>
        </p:nvSpPr>
        <p:spPr>
          <a:xfrm>
            <a:off x="4965192" y="1527048"/>
            <a:ext cx="128016" cy="128016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5166360" y="1508760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80">
                <a:solidFill>
                  <a:srgbClr val="FFFFFF"/>
                </a:solidFill>
                <a:latin typeface="Aptos"/>
                <a:cs typeface="Aptos"/>
              </a:rPr>
              <a:t>Train best</a:t>
            </a:r>
            <a:endParaRPr lang="en-US" sz="780"/>
          </a:p>
        </p:txBody>
      </p:sp>
      <p:sp>
        <p:nvSpPr>
          <p:cNvPr id="47" name="Shape 47"/>
          <p:cNvSpPr/>
          <p:nvPr/>
        </p:nvSpPr>
        <p:spPr>
          <a:xfrm>
            <a:off x="4965192" y="1746504"/>
            <a:ext cx="128016" cy="128016"/>
          </a:xfrm>
          <a:prstGeom prst="rect">
            <a:avLst/>
          </a:prstGeom>
          <a:solidFill>
            <a:srgbClr val="E84A5F"/>
          </a:solidFill>
          <a:ln>
            <a:noFill/>
          </a:ln>
        </p:spPr>
      </p:sp>
      <p:sp>
        <p:nvSpPr>
          <p:cNvPr id="48" name="Text 48"/>
          <p:cNvSpPr txBox="1"/>
          <p:nvPr/>
        </p:nvSpPr>
        <p:spPr>
          <a:xfrm>
            <a:off x="5166360" y="1728216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80">
                <a:solidFill>
                  <a:srgbClr val="FFFFFF"/>
                </a:solidFill>
                <a:latin typeface="Aptos"/>
                <a:cs typeface="Aptos"/>
              </a:rPr>
              <a:t>Test</a:t>
            </a:r>
            <a:endParaRPr lang="en-US" sz="780"/>
          </a:p>
        </p:txBody>
      </p:sp>
      <p:sp>
        <p:nvSpPr>
          <p:cNvPr id="49" name="Shape 49"/>
          <p:cNvSpPr/>
          <p:nvPr/>
        </p:nvSpPr>
        <p:spPr>
          <a:xfrm>
            <a:off x="7315200" y="1481328"/>
            <a:ext cx="4251960" cy="416052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pic>
        <p:nvPicPr>
          <p:cNvPr id="50" name="generalization_gap_map50_95.png"/>
          <p:cNvPicPr>
            <a:picLocks noChangeAspect="1"/>
          </p:cNvPicPr>
          <p:nvPr/>
        </p:nvPicPr>
        <p:blipFill>
          <a:blip r:embed="rIdImg5"/>
          <a:stretch>
            <a:fillRect/>
          </a:stretch>
        </p:blipFill>
        <p:spPr>
          <a:xfrm>
            <a:off x="7700937" y="1737360"/>
            <a:ext cx="3471342" cy="2011680"/>
          </a:xfrm>
          <a:prstGeom prst="rect">
            <a:avLst/>
          </a:prstGeom>
        </p:spPr>
      </p:pic>
      <p:sp>
        <p:nvSpPr>
          <p:cNvPr id="51" name="Text 51"/>
          <p:cNvSpPr txBox="1"/>
          <p:nvPr/>
        </p:nvSpPr>
        <p:spPr>
          <a:xfrm>
            <a:off x="7589520" y="4160520"/>
            <a:ext cx="37033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1350" b="1">
                <a:solidFill>
                  <a:srgbClr val="18212B"/>
                </a:solidFill>
                <a:latin typeface="Aptos"/>
                <a:cs typeface="Aptos"/>
              </a:rPr>
              <a:t>Every YOLO run shows a higher training best than held-out test mAP50-95. The winning yolo26m 150 run also has the smallest top-model gap.</a:t>
            </a:r>
            <a:endParaRPr lang="en-US" sz="1350"/>
          </a:p>
        </p:txBody>
      </p:sp>
      <p:sp>
        <p:nvSpPr>
          <p:cNvPr id="52" name="Shape 52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53" name="Text 53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Source: YOLO/evaluation/outputs/train_test_comparison_20260513_010742.csv</a:t>
            </a:r>
            <a:endParaRPr lang="en-US" sz="7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07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THRESHOLD SWEEP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CNN tuning helped, but not enough</a:t>
            </a:r>
            <a:endParaRPr lang="en-US" sz="3200"/>
          </a:p>
        </p:txBody>
      </p:sp>
      <p:sp>
        <p:nvSpPr>
          <p:cNvPr id="8" name="Text 8"/>
          <p:cNvSpPr txBox="1"/>
          <p:nvPr/>
        </p:nvSpPr>
        <p:spPr>
          <a:xfrm>
            <a:off x="658368" y="1353312"/>
            <a:ext cx="2063801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10" b="1">
                <a:solidFill>
                  <a:srgbClr val="FFFFFF"/>
                </a:solidFill>
                <a:latin typeface="Aptos"/>
                <a:cs typeface="Aptos"/>
              </a:rPr>
              <a:t>score 0.65, NMS 0.18</a:t>
            </a:r>
            <a:endParaRPr lang="en-US" sz="810"/>
          </a:p>
        </p:txBody>
      </p:sp>
      <p:sp>
        <p:nvSpPr>
          <p:cNvPr id="9" name="Shape 9"/>
          <p:cNvSpPr/>
          <p:nvPr/>
        </p:nvSpPr>
        <p:spPr>
          <a:xfrm>
            <a:off x="2795321" y="1380744"/>
            <a:ext cx="2983687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2795321" y="1380744"/>
            <a:ext cx="2909076" cy="237744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852160" y="1353312"/>
            <a:ext cx="3840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810" b="1">
                <a:solidFill>
                  <a:srgbClr val="FFFFFF"/>
                </a:solidFill>
                <a:latin typeface="Aptos"/>
                <a:cs typeface="Aptos"/>
              </a:rPr>
              <a:t>77.0%</a:t>
            </a:r>
            <a:endParaRPr lang="en-US" sz="810"/>
          </a:p>
        </p:txBody>
      </p:sp>
      <p:sp>
        <p:nvSpPr>
          <p:cNvPr id="12" name="Text 12"/>
          <p:cNvSpPr txBox="1"/>
          <p:nvPr/>
        </p:nvSpPr>
        <p:spPr>
          <a:xfrm>
            <a:off x="658368" y="1856232"/>
            <a:ext cx="2063801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10">
                <a:solidFill>
                  <a:srgbClr val="AAB1BD"/>
                </a:solidFill>
                <a:latin typeface="Aptos"/>
                <a:cs typeface="Aptos"/>
              </a:rPr>
              <a:t>score 0.64, NMS 0.18</a:t>
            </a:r>
            <a:endParaRPr lang="en-US" sz="810"/>
          </a:p>
        </p:txBody>
      </p:sp>
      <p:sp>
        <p:nvSpPr>
          <p:cNvPr id="13" name="Shape 13"/>
          <p:cNvSpPr/>
          <p:nvPr/>
        </p:nvSpPr>
        <p:spPr>
          <a:xfrm>
            <a:off x="2795321" y="1883664"/>
            <a:ext cx="2983687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2795321" y="1883664"/>
            <a:ext cx="2906878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5852160" y="1856232"/>
            <a:ext cx="3840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810" b="1">
                <a:solidFill>
                  <a:srgbClr val="FFFFFF"/>
                </a:solidFill>
                <a:latin typeface="Aptos"/>
                <a:cs typeface="Aptos"/>
              </a:rPr>
              <a:t>77.0%</a:t>
            </a:r>
            <a:endParaRPr lang="en-US" sz="810"/>
          </a:p>
        </p:txBody>
      </p:sp>
      <p:sp>
        <p:nvSpPr>
          <p:cNvPr id="16" name="Text 16"/>
          <p:cNvSpPr txBox="1"/>
          <p:nvPr/>
        </p:nvSpPr>
        <p:spPr>
          <a:xfrm>
            <a:off x="658368" y="2359152"/>
            <a:ext cx="2063801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10">
                <a:solidFill>
                  <a:srgbClr val="AAB1BD"/>
                </a:solidFill>
                <a:latin typeface="Aptos"/>
                <a:cs typeface="Aptos"/>
              </a:rPr>
              <a:t>score 0.65, NMS 0.25</a:t>
            </a:r>
            <a:endParaRPr lang="en-US" sz="810"/>
          </a:p>
        </p:txBody>
      </p:sp>
      <p:sp>
        <p:nvSpPr>
          <p:cNvPr id="17" name="Shape 17"/>
          <p:cNvSpPr/>
          <p:nvPr/>
        </p:nvSpPr>
        <p:spPr>
          <a:xfrm>
            <a:off x="2795321" y="2386584"/>
            <a:ext cx="2983687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2795321" y="2386584"/>
            <a:ext cx="2901489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852160" y="2359152"/>
            <a:ext cx="3840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810" b="1">
                <a:solidFill>
                  <a:srgbClr val="FFFFFF"/>
                </a:solidFill>
                <a:latin typeface="Aptos"/>
                <a:cs typeface="Aptos"/>
              </a:rPr>
              <a:t>76.8%</a:t>
            </a:r>
            <a:endParaRPr lang="en-US" sz="810"/>
          </a:p>
        </p:txBody>
      </p:sp>
      <p:sp>
        <p:nvSpPr>
          <p:cNvPr id="20" name="Text 20"/>
          <p:cNvSpPr txBox="1"/>
          <p:nvPr/>
        </p:nvSpPr>
        <p:spPr>
          <a:xfrm>
            <a:off x="658368" y="2862072"/>
            <a:ext cx="2063801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10">
                <a:solidFill>
                  <a:srgbClr val="AAB1BD"/>
                </a:solidFill>
                <a:latin typeface="Aptos"/>
                <a:cs typeface="Aptos"/>
              </a:rPr>
              <a:t>score 0.65, NMS 0.2</a:t>
            </a:r>
            <a:endParaRPr lang="en-US" sz="810"/>
          </a:p>
        </p:txBody>
      </p:sp>
      <p:sp>
        <p:nvSpPr>
          <p:cNvPr id="21" name="Shape 21"/>
          <p:cNvSpPr/>
          <p:nvPr/>
        </p:nvSpPr>
        <p:spPr>
          <a:xfrm>
            <a:off x="2795321" y="2889504"/>
            <a:ext cx="2983687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2795321" y="2889504"/>
            <a:ext cx="2900371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5852160" y="2862072"/>
            <a:ext cx="3840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810" b="1">
                <a:solidFill>
                  <a:srgbClr val="FFFFFF"/>
                </a:solidFill>
                <a:latin typeface="Aptos"/>
                <a:cs typeface="Aptos"/>
              </a:rPr>
              <a:t>76.8%</a:t>
            </a:r>
            <a:endParaRPr lang="en-US" sz="810"/>
          </a:p>
        </p:txBody>
      </p:sp>
      <p:sp>
        <p:nvSpPr>
          <p:cNvPr id="24" name="Text 24"/>
          <p:cNvSpPr txBox="1"/>
          <p:nvPr/>
        </p:nvSpPr>
        <p:spPr>
          <a:xfrm>
            <a:off x="658368" y="3364992"/>
            <a:ext cx="2063801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10">
                <a:solidFill>
                  <a:srgbClr val="AAB1BD"/>
                </a:solidFill>
                <a:latin typeface="Aptos"/>
                <a:cs typeface="Aptos"/>
              </a:rPr>
              <a:t>score 0.65, NMS 0.205</a:t>
            </a:r>
            <a:endParaRPr lang="en-US" sz="810"/>
          </a:p>
        </p:txBody>
      </p:sp>
      <p:sp>
        <p:nvSpPr>
          <p:cNvPr id="25" name="Shape 25"/>
          <p:cNvSpPr/>
          <p:nvPr/>
        </p:nvSpPr>
        <p:spPr>
          <a:xfrm>
            <a:off x="2795321" y="3392424"/>
            <a:ext cx="2983687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2795321" y="3392424"/>
            <a:ext cx="2900371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852160" y="3364992"/>
            <a:ext cx="3840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810" b="1">
                <a:solidFill>
                  <a:srgbClr val="FFFFFF"/>
                </a:solidFill>
                <a:latin typeface="Aptos"/>
                <a:cs typeface="Aptos"/>
              </a:rPr>
              <a:t>76.8%</a:t>
            </a:r>
            <a:endParaRPr lang="en-US" sz="810"/>
          </a:p>
        </p:txBody>
      </p:sp>
      <p:sp>
        <p:nvSpPr>
          <p:cNvPr id="28" name="Text 28"/>
          <p:cNvSpPr txBox="1"/>
          <p:nvPr/>
        </p:nvSpPr>
        <p:spPr>
          <a:xfrm>
            <a:off x="658368" y="3867912"/>
            <a:ext cx="2063801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10">
                <a:solidFill>
                  <a:srgbClr val="AAB1BD"/>
                </a:solidFill>
                <a:latin typeface="Aptos"/>
                <a:cs typeface="Aptos"/>
              </a:rPr>
              <a:t>score 0.65, NMS 0.21</a:t>
            </a:r>
            <a:endParaRPr lang="en-US" sz="810"/>
          </a:p>
        </p:txBody>
      </p:sp>
      <p:sp>
        <p:nvSpPr>
          <p:cNvPr id="29" name="Shape 29"/>
          <p:cNvSpPr/>
          <p:nvPr/>
        </p:nvSpPr>
        <p:spPr>
          <a:xfrm>
            <a:off x="2795321" y="3895344"/>
            <a:ext cx="2983687" cy="237744"/>
          </a:xfrm>
          <a:prstGeom prst="round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2795321" y="3895344"/>
            <a:ext cx="2900371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5852160" y="3867912"/>
            <a:ext cx="3840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810" b="1">
                <a:solidFill>
                  <a:srgbClr val="FFFFFF"/>
                </a:solidFill>
                <a:latin typeface="Aptos"/>
                <a:cs typeface="Aptos"/>
              </a:rPr>
              <a:t>76.8%</a:t>
            </a:r>
            <a:endParaRPr lang="en-US" sz="810"/>
          </a:p>
        </p:txBody>
      </p:sp>
      <p:sp>
        <p:nvSpPr>
          <p:cNvPr id="32" name="Shape 32"/>
          <p:cNvSpPr/>
          <p:nvPr/>
        </p:nvSpPr>
        <p:spPr>
          <a:xfrm>
            <a:off x="6675120" y="1353312"/>
            <a:ext cx="4800600" cy="452628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6949440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200" b="1">
                <a:solidFill>
                  <a:srgbClr val="18212B"/>
                </a:solidFill>
                <a:latin typeface="Aptos Display"/>
                <a:cs typeface="Aptos Display"/>
              </a:rPr>
              <a:t>Best CNN tradeoff</a:t>
            </a:r>
            <a:endParaRPr lang="en-US" sz="2200"/>
          </a:p>
        </p:txBody>
      </p:sp>
      <p:sp>
        <p:nvSpPr>
          <p:cNvPr id="34" name="Shape 34"/>
          <p:cNvSpPr/>
          <p:nvPr/>
        </p:nvSpPr>
        <p:spPr>
          <a:xfrm>
            <a:off x="6967728" y="2249424"/>
            <a:ext cx="1353312" cy="914400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35" name="Shape 35"/>
          <p:cNvSpPr/>
          <p:nvPr/>
        </p:nvSpPr>
        <p:spPr>
          <a:xfrm>
            <a:off x="6967728" y="2249424"/>
            <a:ext cx="73152" cy="9144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7132320" y="2395728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PRECISION</a:t>
            </a:r>
            <a:endParaRPr lang="en-US" sz="850"/>
          </a:p>
        </p:txBody>
      </p:sp>
      <p:sp>
        <p:nvSpPr>
          <p:cNvPr id="37" name="Text 37"/>
          <p:cNvSpPr txBox="1"/>
          <p:nvPr/>
        </p:nvSpPr>
        <p:spPr>
          <a:xfrm>
            <a:off x="7132320" y="2651760"/>
            <a:ext cx="1078992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69.2%</a:t>
            </a:r>
            <a:endParaRPr lang="en-US" sz="2500"/>
          </a:p>
        </p:txBody>
      </p:sp>
      <p:sp>
        <p:nvSpPr>
          <p:cNvPr id="38" name="Text 38"/>
          <p:cNvSpPr txBox="1"/>
          <p:nvPr/>
        </p:nvSpPr>
        <p:spPr>
          <a:xfrm>
            <a:off x="7132320" y="3145536"/>
            <a:ext cx="107899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micro</a:t>
            </a:r>
            <a:endParaRPr lang="en-US" sz="850"/>
          </a:p>
        </p:txBody>
      </p:sp>
      <p:sp>
        <p:nvSpPr>
          <p:cNvPr id="39" name="Shape 39"/>
          <p:cNvSpPr/>
          <p:nvPr/>
        </p:nvSpPr>
        <p:spPr>
          <a:xfrm>
            <a:off x="8503920" y="2249424"/>
            <a:ext cx="1353312" cy="914400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40" name="Shape 40"/>
          <p:cNvSpPr/>
          <p:nvPr/>
        </p:nvSpPr>
        <p:spPr>
          <a:xfrm>
            <a:off x="8503920" y="2249424"/>
            <a:ext cx="73152" cy="91440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8668512" y="2395728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RECALL</a:t>
            </a:r>
            <a:endParaRPr lang="en-US" sz="850"/>
          </a:p>
        </p:txBody>
      </p:sp>
      <p:sp>
        <p:nvSpPr>
          <p:cNvPr id="42" name="Text 42"/>
          <p:cNvSpPr txBox="1"/>
          <p:nvPr/>
        </p:nvSpPr>
        <p:spPr>
          <a:xfrm>
            <a:off x="8668512" y="2651760"/>
            <a:ext cx="1078992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86.8%</a:t>
            </a:r>
            <a:endParaRPr lang="en-US" sz="2500"/>
          </a:p>
        </p:txBody>
      </p:sp>
      <p:sp>
        <p:nvSpPr>
          <p:cNvPr id="43" name="Text 43"/>
          <p:cNvSpPr txBox="1"/>
          <p:nvPr/>
        </p:nvSpPr>
        <p:spPr>
          <a:xfrm>
            <a:off x="8668512" y="3145536"/>
            <a:ext cx="107899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micro</a:t>
            </a:r>
            <a:endParaRPr lang="en-US" sz="850"/>
          </a:p>
        </p:txBody>
      </p:sp>
      <p:sp>
        <p:nvSpPr>
          <p:cNvPr id="44" name="Shape 44"/>
          <p:cNvSpPr/>
          <p:nvPr/>
        </p:nvSpPr>
        <p:spPr>
          <a:xfrm>
            <a:off x="10040112" y="2249424"/>
            <a:ext cx="1170432" cy="914400"/>
          </a:xfrm>
          <a:prstGeom prst="roundRect">
            <a:avLst/>
          </a:prstGeom>
          <a:solidFill>
            <a:srgbClr val="18212B"/>
          </a:solidFill>
          <a:ln>
            <a:noFill/>
          </a:ln>
        </p:spPr>
      </p:sp>
      <p:sp>
        <p:nvSpPr>
          <p:cNvPr id="45" name="Shape 45"/>
          <p:cNvSpPr/>
          <p:nvPr/>
        </p:nvSpPr>
        <p:spPr>
          <a:xfrm>
            <a:off x="10040112" y="2249424"/>
            <a:ext cx="73152" cy="914400"/>
          </a:xfrm>
          <a:prstGeom prst="roundRect">
            <a:avLst/>
          </a:prstGeom>
          <a:solidFill>
            <a:srgbClr val="57C785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10204704" y="2395728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AAB1BD"/>
                </a:solidFill>
                <a:latin typeface="Aptos"/>
                <a:cs typeface="Aptos"/>
              </a:rPr>
              <a:t>F1</a:t>
            </a:r>
            <a:endParaRPr lang="en-US" sz="850"/>
          </a:p>
        </p:txBody>
      </p:sp>
      <p:sp>
        <p:nvSpPr>
          <p:cNvPr id="47" name="Text 47"/>
          <p:cNvSpPr txBox="1"/>
          <p:nvPr/>
        </p:nvSpPr>
        <p:spPr>
          <a:xfrm>
            <a:off x="10204704" y="2651760"/>
            <a:ext cx="896112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500" b="1">
                <a:solidFill>
                  <a:srgbClr val="FFFFFF"/>
                </a:solidFill>
                <a:latin typeface="Aptos Display"/>
                <a:cs typeface="Aptos Display"/>
              </a:rPr>
              <a:t>77.0%</a:t>
            </a:r>
            <a:endParaRPr lang="en-US" sz="2500"/>
          </a:p>
        </p:txBody>
      </p:sp>
      <p:sp>
        <p:nvSpPr>
          <p:cNvPr id="48" name="Text 48"/>
          <p:cNvSpPr txBox="1"/>
          <p:nvPr/>
        </p:nvSpPr>
        <p:spPr>
          <a:xfrm>
            <a:off x="10204704" y="3145536"/>
            <a:ext cx="8961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>
                <a:solidFill>
                  <a:srgbClr val="AAB1BD"/>
                </a:solidFill>
                <a:latin typeface="Aptos"/>
                <a:cs typeface="Aptos"/>
              </a:rPr>
              <a:t>micro</a:t>
            </a:r>
            <a:endParaRPr lang="en-US" sz="850"/>
          </a:p>
        </p:txBody>
      </p:sp>
      <p:sp>
        <p:nvSpPr>
          <p:cNvPr id="49" name="Text 49"/>
          <p:cNvSpPr txBox="1"/>
          <p:nvPr/>
        </p:nvSpPr>
        <p:spPr>
          <a:xfrm>
            <a:off x="6949440" y="3547872"/>
            <a:ext cx="4251960" cy="11704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260">
                <a:solidFill>
                  <a:srgbClr val="18212B"/>
                </a:solidFill>
                <a:latin typeface="Aptos"/>
                <a:cs typeface="Aptos"/>
              </a:rPr>
              <a:t>- Best sweep: score 0.65, NMS IoU 0.18.</a:t>
            </a:r>
            <a:endParaRPr lang="en-US" sz="1260"/>
          </a:p>
          <a:p>
            <a:pPr/>
            <a:r>
              <a:rPr lang="en-US" sz="1260">
                <a:solidFill>
                  <a:srgbClr val="18212B"/>
                </a:solidFill>
                <a:latin typeface="Aptos"/>
                <a:cs typeface="Aptos"/>
              </a:rPr>
              <a:t>- Errors at best: 182 FP and 62 FN.</a:t>
            </a:r>
            <a:endParaRPr lang="en-US" sz="1260"/>
          </a:p>
          <a:p>
            <a:pPr/>
            <a:r>
              <a:rPr lang="en-US" sz="1260">
                <a:solidFill>
                  <a:srgbClr val="18212B"/>
                </a:solidFill>
                <a:latin typeface="Aptos"/>
                <a:cs typeface="Aptos"/>
              </a:rPr>
              <a:t>- Tuning moved CNN toward cleaner predictions, but YOLO still has the stronger combined score.</a:t>
            </a:r>
            <a:endParaRPr lang="en-US" sz="1260"/>
          </a:p>
        </p:txBody>
      </p:sp>
      <p:sp>
        <p:nvSpPr>
          <p:cNvPr id="50" name="Text 50"/>
          <p:cNvSpPr txBox="1"/>
          <p:nvPr/>
        </p:nvSpPr>
        <p:spPr>
          <a:xfrm>
            <a:off x="777240" y="4709160"/>
            <a:ext cx="5303520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600" b="1">
                <a:solidFill>
                  <a:srgbClr val="F6C85F"/>
                </a:solidFill>
                <a:latin typeface="Aptos Display"/>
                <a:cs typeface="Aptos Display"/>
              </a:rPr>
              <a:t>Story point: CNN improves through threshold discipline; YOLO starts from a stronger detector ranking.</a:t>
            </a:r>
            <a:endParaRPr lang="en-US" sz="1600"/>
          </a:p>
        </p:txBody>
      </p:sp>
      <p:sp>
        <p:nvSpPr>
          <p:cNvPr id="51" name="Shape 51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Source: CNN/outputs/sweep_results.csv; CNN/outputs/eval_test_metrics.json</a:t>
            </a:r>
            <a:endParaRPr lang="en-US" sz="7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08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CLASS BEHAVIOR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Class risk is concentrated in RBC and Platelets</a:t>
            </a:r>
            <a:endParaRPr lang="en-US" sz="3200"/>
          </a:p>
        </p:txBody>
      </p:sp>
      <p:sp>
        <p:nvSpPr>
          <p:cNvPr id="8" name="Shape 8"/>
          <p:cNvSpPr/>
          <p:nvPr/>
        </p:nvSpPr>
        <p:spPr>
          <a:xfrm>
            <a:off x="658368" y="1444752"/>
            <a:ext cx="4937760" cy="434340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325880" y="4517136"/>
            <a:ext cx="3840480" cy="10973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325880" y="4517136"/>
            <a:ext cx="3840480" cy="7315"/>
          </a:xfrm>
          <a:prstGeom prst="rect">
            <a:avLst/>
          </a:prstGeom>
          <a:solidFill>
            <a:srgbClr val="344050">
              <a:alpha val="45000"/>
            </a:srgbClr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22960" y="4453128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650">
                <a:solidFill>
                  <a:srgbClr val="AAB1BD"/>
                </a:solidFill>
                <a:latin typeface="Aptos"/>
                <a:cs typeface="Aptos"/>
              </a:rPr>
              <a:t>0</a:t>
            </a:r>
            <a:endParaRPr lang="en-US" sz="650"/>
          </a:p>
        </p:txBody>
      </p:sp>
      <p:sp>
        <p:nvSpPr>
          <p:cNvPr id="12" name="Shape 12"/>
          <p:cNvSpPr/>
          <p:nvPr/>
        </p:nvSpPr>
        <p:spPr>
          <a:xfrm>
            <a:off x="1325880" y="3250692"/>
            <a:ext cx="3840480" cy="7315"/>
          </a:xfrm>
          <a:prstGeom prst="rect">
            <a:avLst/>
          </a:prstGeom>
          <a:solidFill>
            <a:srgbClr val="344050">
              <a:alpha val="45000"/>
            </a:srgbClr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22960" y="3186684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650">
                <a:solidFill>
                  <a:srgbClr val="AAB1BD"/>
                </a:solidFill>
                <a:latin typeface="Aptos"/>
                <a:cs typeface="Aptos"/>
              </a:rPr>
              <a:t>50</a:t>
            </a:r>
            <a:endParaRPr lang="en-US" sz="650"/>
          </a:p>
        </p:txBody>
      </p:sp>
      <p:sp>
        <p:nvSpPr>
          <p:cNvPr id="14" name="Shape 14"/>
          <p:cNvSpPr/>
          <p:nvPr/>
        </p:nvSpPr>
        <p:spPr>
          <a:xfrm>
            <a:off x="1325880" y="1984248"/>
            <a:ext cx="3840480" cy="7315"/>
          </a:xfrm>
          <a:prstGeom prst="rect">
            <a:avLst/>
          </a:prstGeom>
          <a:solidFill>
            <a:srgbClr val="344050">
              <a:alpha val="45000"/>
            </a:srgbClr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22960" y="1920240"/>
            <a:ext cx="384048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650">
                <a:solidFill>
                  <a:srgbClr val="AAB1BD"/>
                </a:solidFill>
                <a:latin typeface="Aptos"/>
                <a:cs typeface="Aptos"/>
              </a:rPr>
              <a:t>100</a:t>
            </a:r>
            <a:endParaRPr lang="en-US" sz="650"/>
          </a:p>
        </p:txBody>
      </p:sp>
      <p:sp>
        <p:nvSpPr>
          <p:cNvPr id="16" name="Shape 16"/>
          <p:cNvSpPr/>
          <p:nvPr/>
        </p:nvSpPr>
        <p:spPr>
          <a:xfrm>
            <a:off x="1543507" y="2863006"/>
            <a:ext cx="257251" cy="165413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497787" y="2661838"/>
            <a:ext cx="348691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18212B"/>
                </a:solidFill>
                <a:latin typeface="Aptos"/>
                <a:cs typeface="Aptos"/>
              </a:rPr>
              <a:t>65.3%</a:t>
            </a:r>
            <a:endParaRPr lang="en-US" sz="620"/>
          </a:p>
        </p:txBody>
      </p:sp>
      <p:sp>
        <p:nvSpPr>
          <p:cNvPr id="18" name="Shape 18"/>
          <p:cNvSpPr/>
          <p:nvPr/>
        </p:nvSpPr>
        <p:spPr>
          <a:xfrm>
            <a:off x="1837334" y="2265680"/>
            <a:ext cx="257251" cy="2251456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791614" y="2064512"/>
            <a:ext cx="348691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18212B"/>
                </a:solidFill>
                <a:latin typeface="Aptos"/>
                <a:cs typeface="Aptos"/>
              </a:rPr>
              <a:t>88.9%</a:t>
            </a:r>
            <a:endParaRPr lang="en-US" sz="620"/>
          </a:p>
        </p:txBody>
      </p:sp>
      <p:sp>
        <p:nvSpPr>
          <p:cNvPr id="20" name="Shape 20"/>
          <p:cNvSpPr/>
          <p:nvPr/>
        </p:nvSpPr>
        <p:spPr>
          <a:xfrm>
            <a:off x="2131162" y="2610021"/>
            <a:ext cx="257251" cy="1907115"/>
          </a:xfrm>
          <a:prstGeom prst="rect">
            <a:avLst/>
          </a:prstGeom>
          <a:solidFill>
            <a:srgbClr val="57C785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2085442" y="2408853"/>
            <a:ext cx="348691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18212B"/>
                </a:solidFill>
                <a:latin typeface="Aptos"/>
                <a:cs typeface="Aptos"/>
              </a:rPr>
              <a:t>75.3%</a:t>
            </a:r>
            <a:endParaRPr lang="en-US" sz="620"/>
          </a:p>
        </p:txBody>
      </p:sp>
      <p:sp>
        <p:nvSpPr>
          <p:cNvPr id="22" name="Text 22"/>
          <p:cNvSpPr txBox="1"/>
          <p:nvPr/>
        </p:nvSpPr>
        <p:spPr>
          <a:xfrm>
            <a:off x="1325880" y="459943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Platelets</a:t>
            </a:r>
            <a:endParaRPr lang="en-US" sz="800"/>
          </a:p>
        </p:txBody>
      </p:sp>
      <p:sp>
        <p:nvSpPr>
          <p:cNvPr id="23" name="Shape 23"/>
          <p:cNvSpPr/>
          <p:nvPr/>
        </p:nvSpPr>
        <p:spPr>
          <a:xfrm>
            <a:off x="2823667" y="2806808"/>
            <a:ext cx="257251" cy="1710328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2777947" y="2605640"/>
            <a:ext cx="348691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18212B"/>
                </a:solidFill>
                <a:latin typeface="Aptos"/>
                <a:cs typeface="Aptos"/>
              </a:rPr>
              <a:t>67.5%</a:t>
            </a:r>
            <a:endParaRPr lang="en-US" sz="620"/>
          </a:p>
        </p:txBody>
      </p:sp>
      <p:sp>
        <p:nvSpPr>
          <p:cNvPr id="25" name="Shape 25"/>
          <p:cNvSpPr/>
          <p:nvPr/>
        </p:nvSpPr>
        <p:spPr>
          <a:xfrm>
            <a:off x="3117494" y="2346998"/>
            <a:ext cx="257251" cy="2170138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3071774" y="2145830"/>
            <a:ext cx="348691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18212B"/>
                </a:solidFill>
                <a:latin typeface="Aptos"/>
                <a:cs typeface="Aptos"/>
              </a:rPr>
              <a:t>85.7%</a:t>
            </a:r>
            <a:endParaRPr lang="en-US" sz="620"/>
          </a:p>
        </p:txBody>
      </p:sp>
      <p:sp>
        <p:nvSpPr>
          <p:cNvPr id="27" name="Shape 27"/>
          <p:cNvSpPr/>
          <p:nvPr/>
        </p:nvSpPr>
        <p:spPr>
          <a:xfrm>
            <a:off x="3411322" y="2604147"/>
            <a:ext cx="257251" cy="1912989"/>
          </a:xfrm>
          <a:prstGeom prst="rect">
            <a:avLst/>
          </a:prstGeom>
          <a:solidFill>
            <a:srgbClr val="57C785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3365602" y="2402979"/>
            <a:ext cx="348691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18212B"/>
                </a:solidFill>
                <a:latin typeface="Aptos"/>
                <a:cs typeface="Aptos"/>
              </a:rPr>
              <a:t>75.5%</a:t>
            </a:r>
            <a:endParaRPr lang="en-US" sz="620"/>
          </a:p>
        </p:txBody>
      </p:sp>
      <p:sp>
        <p:nvSpPr>
          <p:cNvPr id="29" name="Text 29"/>
          <p:cNvSpPr txBox="1"/>
          <p:nvPr/>
        </p:nvSpPr>
        <p:spPr>
          <a:xfrm>
            <a:off x="2606040" y="459943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RBC</a:t>
            </a:r>
            <a:endParaRPr lang="en-US" sz="800"/>
          </a:p>
        </p:txBody>
      </p:sp>
      <p:sp>
        <p:nvSpPr>
          <p:cNvPr id="30" name="Shape 30"/>
          <p:cNvSpPr/>
          <p:nvPr/>
        </p:nvSpPr>
        <p:spPr>
          <a:xfrm>
            <a:off x="4103827" y="2052704"/>
            <a:ext cx="257251" cy="2464432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4058107" y="1851536"/>
            <a:ext cx="348691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18212B"/>
                </a:solidFill>
                <a:latin typeface="Aptos"/>
                <a:cs typeface="Aptos"/>
              </a:rPr>
              <a:t>97.3%</a:t>
            </a:r>
            <a:endParaRPr lang="en-US" sz="620"/>
          </a:p>
        </p:txBody>
      </p:sp>
      <p:sp>
        <p:nvSpPr>
          <p:cNvPr id="32" name="Shape 32"/>
          <p:cNvSpPr/>
          <p:nvPr/>
        </p:nvSpPr>
        <p:spPr>
          <a:xfrm>
            <a:off x="4397654" y="2052704"/>
            <a:ext cx="257251" cy="2464432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351934" y="1851536"/>
            <a:ext cx="348691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18212B"/>
                </a:solidFill>
                <a:latin typeface="Aptos"/>
                <a:cs typeface="Aptos"/>
              </a:rPr>
              <a:t>97.3%</a:t>
            </a:r>
            <a:endParaRPr lang="en-US" sz="620"/>
          </a:p>
        </p:txBody>
      </p:sp>
      <p:sp>
        <p:nvSpPr>
          <p:cNvPr id="34" name="Shape 34"/>
          <p:cNvSpPr/>
          <p:nvPr/>
        </p:nvSpPr>
        <p:spPr>
          <a:xfrm>
            <a:off x="4691482" y="2052704"/>
            <a:ext cx="257251" cy="2464432"/>
          </a:xfrm>
          <a:prstGeom prst="rect">
            <a:avLst/>
          </a:prstGeom>
          <a:solidFill>
            <a:srgbClr val="57C785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4645762" y="1851536"/>
            <a:ext cx="348691" cy="15544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620" b="1">
                <a:solidFill>
                  <a:srgbClr val="18212B"/>
                </a:solidFill>
                <a:latin typeface="Aptos"/>
                <a:cs typeface="Aptos"/>
              </a:rPr>
              <a:t>97.3%</a:t>
            </a:r>
            <a:endParaRPr lang="en-US" sz="620"/>
          </a:p>
        </p:txBody>
      </p:sp>
      <p:sp>
        <p:nvSpPr>
          <p:cNvPr id="36" name="Text 36"/>
          <p:cNvSpPr txBox="1"/>
          <p:nvPr/>
        </p:nvSpPr>
        <p:spPr>
          <a:xfrm>
            <a:off x="3886200" y="459943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WBC</a:t>
            </a:r>
            <a:endParaRPr lang="en-US" sz="800"/>
          </a:p>
        </p:txBody>
      </p:sp>
      <p:sp>
        <p:nvSpPr>
          <p:cNvPr id="37" name="Shape 37"/>
          <p:cNvSpPr/>
          <p:nvPr/>
        </p:nvSpPr>
        <p:spPr>
          <a:xfrm>
            <a:off x="3291840" y="1828800"/>
            <a:ext cx="128016" cy="128016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3493008" y="1810512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80">
                <a:solidFill>
                  <a:srgbClr val="18212B"/>
                </a:solidFill>
                <a:latin typeface="Aptos"/>
                <a:cs typeface="Aptos"/>
              </a:rPr>
              <a:t>Precision</a:t>
            </a:r>
            <a:endParaRPr lang="en-US" sz="780"/>
          </a:p>
        </p:txBody>
      </p:sp>
      <p:sp>
        <p:nvSpPr>
          <p:cNvPr id="39" name="Shape 39"/>
          <p:cNvSpPr/>
          <p:nvPr/>
        </p:nvSpPr>
        <p:spPr>
          <a:xfrm>
            <a:off x="3291840" y="2048256"/>
            <a:ext cx="128016" cy="128016"/>
          </a:xfrm>
          <a:prstGeom prst="rect">
            <a:avLst/>
          </a:prstGeom>
          <a:solidFill>
            <a:srgbClr val="F6C85F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3493008" y="2029968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80">
                <a:solidFill>
                  <a:srgbClr val="18212B"/>
                </a:solidFill>
                <a:latin typeface="Aptos"/>
                <a:cs typeface="Aptos"/>
              </a:rPr>
              <a:t>Recall</a:t>
            </a:r>
            <a:endParaRPr lang="en-US" sz="780"/>
          </a:p>
        </p:txBody>
      </p:sp>
      <p:sp>
        <p:nvSpPr>
          <p:cNvPr id="41" name="Shape 41"/>
          <p:cNvSpPr/>
          <p:nvPr/>
        </p:nvSpPr>
        <p:spPr>
          <a:xfrm>
            <a:off x="3291840" y="2267712"/>
            <a:ext cx="128016" cy="128016"/>
          </a:xfrm>
          <a:prstGeom prst="rect">
            <a:avLst/>
          </a:prstGeom>
          <a:solidFill>
            <a:srgbClr val="57C785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3493008" y="224942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780">
                <a:solidFill>
                  <a:srgbClr val="18212B"/>
                </a:solidFill>
                <a:latin typeface="Aptos"/>
                <a:cs typeface="Aptos"/>
              </a:rPr>
              <a:t>F1</a:t>
            </a:r>
            <a:endParaRPr lang="en-US" sz="780"/>
          </a:p>
        </p:txBody>
      </p:sp>
      <p:sp>
        <p:nvSpPr>
          <p:cNvPr id="43" name="Text 43"/>
          <p:cNvSpPr txBox="1"/>
          <p:nvPr/>
        </p:nvSpPr>
        <p:spPr>
          <a:xfrm>
            <a:off x="868680" y="5321808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1050" b="1">
                <a:solidFill>
                  <a:srgbClr val="5B6470"/>
                </a:solidFill>
                <a:latin typeface="Aptos"/>
                <a:cs typeface="Aptos"/>
              </a:rPr>
              <a:t>CNN per-class metrics after best threshold sweep</a:t>
            </a:r>
            <a:endParaRPr lang="en-US" sz="1050"/>
          </a:p>
        </p:txBody>
      </p:sp>
      <p:sp>
        <p:nvSpPr>
          <p:cNvPr id="44" name="Shape 44"/>
          <p:cNvSpPr/>
          <p:nvPr/>
        </p:nvSpPr>
        <p:spPr>
          <a:xfrm>
            <a:off x="6126480" y="1444752"/>
            <a:ext cx="5413248" cy="434340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6419088" y="175564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200" b="1">
                <a:solidFill>
                  <a:srgbClr val="18212B"/>
                </a:solidFill>
                <a:latin typeface="Aptos Display"/>
                <a:cs typeface="Aptos Display"/>
              </a:rPr>
              <a:t>What this means</a:t>
            </a:r>
            <a:endParaRPr lang="en-US" sz="2200"/>
          </a:p>
        </p:txBody>
      </p:sp>
      <p:sp>
        <p:nvSpPr>
          <p:cNvPr id="46" name="Text 46"/>
          <p:cNvSpPr txBox="1"/>
          <p:nvPr/>
        </p:nvSpPr>
        <p:spPr>
          <a:xfrm>
            <a:off x="6419088" y="2395728"/>
            <a:ext cx="4736592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WBC is almost solved by CNN on this split: 97.3% precision and recall.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RBC drives most of the operational risk: 398 of 471 objects and 164 CNN false positives.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Platelets are rare, so one or two misses move the percentage noticeably.</a:t>
            </a:r>
            <a:endParaRPr lang="en-US" sz="1300"/>
          </a:p>
        </p:txBody>
      </p:sp>
      <p:sp>
        <p:nvSpPr>
          <p:cNvPr id="47" name="Text 47"/>
          <p:cNvSpPr txBox="1"/>
          <p:nvPr/>
        </p:nvSpPr>
        <p:spPr>
          <a:xfrm>
            <a:off x="6419088" y="4617720"/>
            <a:ext cx="47091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350" b="1">
                <a:solidFill>
                  <a:srgbClr val="E84A5F"/>
                </a:solidFill>
                <a:latin typeface="Aptos"/>
                <a:cs typeface="Aptos"/>
              </a:rPr>
              <a:t>Before deployment, collect per-class YOLO precision/recall from the best checkpoint for an apples-to-apples class-risk review.</a:t>
            </a:r>
            <a:endParaRPr lang="en-US" sz="1350"/>
          </a:p>
        </p:txBody>
      </p:sp>
      <p:sp>
        <p:nvSpPr>
          <p:cNvPr id="48" name="Shape 48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49" name="Text 49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Source: CNN/outputs/eval_test_metrics.json</a:t>
            </a:r>
            <a:endParaRPr lang="en-US" sz="7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09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VISUAL EVIDENCE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Qualitative check: what the models draw</a:t>
            </a:r>
            <a:endParaRPr lang="en-US" sz="3200"/>
          </a:p>
        </p:txBody>
      </p:sp>
      <p:sp>
        <p:nvSpPr>
          <p:cNvPr id="8" name="Shape 8"/>
          <p:cNvSpPr/>
          <p:nvPr/>
        </p:nvSpPr>
        <p:spPr>
          <a:xfrm>
            <a:off x="658368" y="1207008"/>
            <a:ext cx="5394960" cy="4919472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6263640" y="1207008"/>
            <a:ext cx="5285232" cy="4919472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914400" y="1481328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1300" b="1">
                <a:solidFill>
                  <a:srgbClr val="E84A5F"/>
                </a:solidFill>
                <a:latin typeface="Aptos"/>
                <a:cs typeface="Aptos"/>
              </a:rPr>
              <a:t>YOLO best checkpoint prediction batch</a:t>
            </a:r>
            <a:endParaRPr lang="en-US" sz="1300"/>
          </a:p>
        </p:txBody>
      </p:sp>
      <p:pic>
        <p:nvPicPr>
          <p:cNvPr id="11" name="val_batch0_pred.jpg"/>
          <p:cNvPicPr>
            <a:picLocks noChangeAspect="1"/>
          </p:cNvPicPr>
          <p:nvPr/>
        </p:nvPicPr>
        <p:blipFill>
          <a:blip r:embed="rIdImg7"/>
          <a:stretch>
            <a:fillRect/>
          </a:stretch>
        </p:blipFill>
        <p:spPr>
          <a:xfrm>
            <a:off x="1623060" y="1847088"/>
            <a:ext cx="3429000" cy="342900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14400" y="541324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69">
                <a:solidFill>
                  <a:srgbClr val="5B6470"/>
                </a:solidFill>
                <a:latin typeface="Aptos"/>
                <a:cs typeface="Aptos"/>
              </a:rPr>
              <a:t>From validation output folder for train_results_150_epochs(yolov26m)</a:t>
            </a:r>
            <a:endParaRPr lang="en-US" sz="869"/>
          </a:p>
        </p:txBody>
      </p:sp>
      <p:sp>
        <p:nvSpPr>
          <p:cNvPr id="13" name="Text 13"/>
          <p:cNvSpPr txBox="1"/>
          <p:nvPr/>
        </p:nvSpPr>
        <p:spPr>
          <a:xfrm>
            <a:off x="6537960" y="1481328"/>
            <a:ext cx="473659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1300" b="1">
                <a:solidFill>
                  <a:srgbClr val="00A6A6"/>
                </a:solidFill>
                <a:latin typeface="Aptos"/>
                <a:cs typeface="Aptos"/>
              </a:rPr>
              <a:t>CNN/Faster R-CNN single-image prediction</a:t>
            </a:r>
            <a:endParaRPr lang="en-US" sz="1300"/>
          </a:p>
        </p:txBody>
      </p:sp>
      <p:pic>
        <p:nvPicPr>
          <p:cNvPr id="14" name="prediction.jpg"/>
          <p:cNvPicPr>
            <a:picLocks noChangeAspect="1"/>
          </p:cNvPicPr>
          <p:nvPr/>
        </p:nvPicPr>
        <p:blipFill>
          <a:blip r:embed="rIdImg9"/>
          <a:stretch>
            <a:fillRect/>
          </a:stretch>
        </p:blipFill>
        <p:spPr>
          <a:xfrm>
            <a:off x="7191756" y="1847088"/>
            <a:ext cx="3429000" cy="342900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6537960" y="5413248"/>
            <a:ext cx="4736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ctr"/>
            <a:r>
              <a:rPr lang="en-US" sz="869">
                <a:solidFill>
                  <a:srgbClr val="5B6470"/>
                </a:solidFill>
                <a:latin typeface="Aptos"/>
                <a:cs typeface="Aptos"/>
              </a:rPr>
              <a:t>Generated prediction.jpg from the tuned CNN project</a:t>
            </a:r>
            <a:endParaRPr lang="en-US" sz="869"/>
          </a:p>
        </p:txBody>
      </p:sp>
      <p:sp>
        <p:nvSpPr>
          <p:cNvPr id="16" name="Shape 16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Source: YOLO/test/runs/train_results_150_epochs_yolov26m; CNN/prediction.jpg</a:t>
            </a:r>
            <a:endParaRPr lang="en-US" sz="7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10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STORY CONCLUSION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Recommendation and next steps</a:t>
            </a:r>
            <a:endParaRPr lang="en-US" sz="3200"/>
          </a:p>
        </p:txBody>
      </p:sp>
      <p:sp>
        <p:nvSpPr>
          <p:cNvPr id="8" name="Shape 8"/>
          <p:cNvSpPr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87552" y="1755648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400" b="1">
                <a:solidFill>
                  <a:srgbClr val="18212B"/>
                </a:solidFill>
                <a:latin typeface="Aptos Display"/>
                <a:cs typeface="Aptos Display"/>
              </a:rPr>
              <a:t>Decision</a:t>
            </a:r>
            <a:endParaRPr lang="en-US" sz="2400"/>
          </a:p>
        </p:txBody>
      </p:sp>
      <p:sp>
        <p:nvSpPr>
          <p:cNvPr id="10" name="Text 10"/>
          <p:cNvSpPr txBox="1"/>
          <p:nvPr/>
        </p:nvSpPr>
        <p:spPr>
          <a:xfrm>
            <a:off x="987552" y="2423160"/>
            <a:ext cx="461772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800" b="1">
                <a:solidFill>
                  <a:srgbClr val="E84A5F"/>
                </a:solidFill>
                <a:latin typeface="Aptos Display"/>
                <a:cs typeface="Aptos Display"/>
              </a:rPr>
              <a:t>Use YOLO v26m from `train_results_150_epochs(yolov26m)` as the primary model candidate for the current evidence package.</a:t>
            </a:r>
            <a:endParaRPr lang="en-US" sz="1800"/>
          </a:p>
        </p:txBody>
      </p:sp>
      <p:sp>
        <p:nvSpPr>
          <p:cNvPr id="11" name="Text 11"/>
          <p:cNvSpPr txBox="1"/>
          <p:nvPr/>
        </p:nvSpPr>
        <p:spPr>
          <a:xfrm>
            <a:off x="987552" y="4187952"/>
            <a:ext cx="45262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350">
                <a:solidFill>
                  <a:srgbClr val="18212B"/>
                </a:solidFill>
                <a:latin typeface="Aptos"/>
                <a:cs typeface="Aptos"/>
              </a:rPr>
              <a:t>Keep CNN/Faster R-CNN as a benchmark because its threshold sweep provides useful FP/FN tradeoff insight.</a:t>
            </a:r>
            <a:endParaRPr lang="en-US" sz="1350"/>
          </a:p>
        </p:txBody>
      </p:sp>
      <p:sp>
        <p:nvSpPr>
          <p:cNvPr id="12" name="Shape 12"/>
          <p:cNvSpPr/>
          <p:nvPr/>
        </p:nvSpPr>
        <p:spPr>
          <a:xfrm>
            <a:off x="6355080" y="1417320"/>
            <a:ext cx="5166360" cy="452628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656832" y="1755648"/>
            <a:ext cx="4617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400" b="1">
                <a:solidFill>
                  <a:srgbClr val="18212B"/>
                </a:solidFill>
                <a:latin typeface="Aptos Display"/>
                <a:cs typeface="Aptos Display"/>
              </a:rPr>
              <a:t>Before deployment</a:t>
            </a:r>
            <a:endParaRPr lang="en-US" sz="2400"/>
          </a:p>
        </p:txBody>
      </p:sp>
      <p:sp>
        <p:nvSpPr>
          <p:cNvPr id="14" name="Text 14"/>
          <p:cNvSpPr txBox="1"/>
          <p:nvPr/>
        </p:nvSpPr>
        <p:spPr>
          <a:xfrm>
            <a:off x="6656832" y="2450592"/>
            <a:ext cx="452628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1. Export per-class YOLO metrics for the winning checkpoint.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2. Add inference latency and model size to compare speed vs accuracy.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3. Validate on more external blood-smear images.</a:t>
            </a:r>
            <a:endParaRPr lang="en-US" sz="1320"/>
          </a:p>
          <a:p>
            <a:pPr/>
            <a:r>
              <a:rPr lang="en-US" sz="1320">
                <a:solidFill>
                  <a:srgbClr val="18212B"/>
                </a:solidFill>
                <a:latin typeface="Aptos"/>
                <a:cs typeface="Aptos"/>
              </a:rPr>
              <a:t>4. Decide the operating point by cost of FP vs FN, especially for RBC.</a:t>
            </a:r>
            <a:endParaRPr lang="en-US" sz="1320"/>
          </a:p>
        </p:txBody>
      </p:sp>
      <p:sp>
        <p:nvSpPr>
          <p:cNvPr id="15" name="Shape 15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Source: Synthesis of local YOLO and CNN test reports</a:t>
            </a:r>
            <a:endParaRPr lang="en-US" sz="7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-1097280"/>
            <a:ext cx="5303520" cy="8595360"/>
          </a:xfrm>
          <a:prstGeom prst="rect">
            <a:avLst/>
          </a:prstGeom>
          <a:solidFill>
            <a:srgbClr val="20263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640080" y="5394960"/>
            <a:ext cx="5029200" cy="1645920"/>
          </a:xfrm>
          <a:prstGeom prst="rect">
            <a:avLst/>
          </a:prstGeom>
          <a:solidFill>
            <a:srgbClr val="E84A5F">
              <a:alpha val="18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02920" y="256032"/>
            <a:ext cx="411480" cy="237744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txBody>
          <a:bodyPr wrap="square" anchor="mid" lIns="73152" tIns="73152" rIns="73152" bIns="73152"/>
          <a:lstStyle/>
          <a:p>
            <a:pPr algn="ctr"/>
            <a:r>
              <a:rPr lang="en-US" sz="800" b="1">
                <a:solidFill>
                  <a:srgbClr val="18212B"/>
                </a:solidFill>
                <a:latin typeface="Aptos"/>
                <a:cs typeface="Aptos"/>
              </a:rPr>
              <a:t>11</a:t>
            </a:r>
            <a:endParaRPr lang="en-US" sz="800"/>
          </a:p>
        </p:txBody>
      </p:sp>
      <p:sp>
        <p:nvSpPr>
          <p:cNvPr id="6" name="Text 6"/>
          <p:cNvSpPr txBox="1"/>
          <p:nvPr/>
        </p:nvSpPr>
        <p:spPr>
          <a:xfrm>
            <a:off x="987552" y="22860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850" b="1">
                <a:solidFill>
                  <a:srgbClr val="F6C85F"/>
                </a:solidFill>
                <a:latin typeface="Aptos"/>
                <a:cs typeface="Aptos"/>
              </a:rPr>
              <a:t>SOURCE ARTIFACTS</a:t>
            </a:r>
            <a:endParaRPr lang="en-US" sz="850"/>
          </a:p>
        </p:txBody>
      </p:sp>
      <p:sp>
        <p:nvSpPr>
          <p:cNvPr id="7" name="Text 7"/>
          <p:cNvSpPr txBox="1"/>
          <p:nvPr/>
        </p:nvSpPr>
        <p:spPr>
          <a:xfrm>
            <a:off x="502920" y="621792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3200" b="1">
                <a:solidFill>
                  <a:srgbClr val="FFFFFF"/>
                </a:solidFill>
                <a:latin typeface="Aptos Display"/>
                <a:cs typeface="Aptos Display"/>
              </a:rPr>
              <a:t>Reproducibility map</a:t>
            </a:r>
            <a:endParaRPr lang="en-US" sz="3200"/>
          </a:p>
        </p:txBody>
      </p:sp>
      <p:sp>
        <p:nvSpPr>
          <p:cNvPr id="8" name="Shape 8"/>
          <p:cNvSpPr/>
          <p:nvPr/>
        </p:nvSpPr>
        <p:spPr>
          <a:xfrm>
            <a:off x="685800" y="1325880"/>
            <a:ext cx="10835640" cy="4663440"/>
          </a:xfrm>
          <a:prstGeom prst="roundRect">
            <a:avLst/>
          </a:prstGeom>
          <a:solidFill>
            <a:srgbClr val="F7F1E5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87552" y="1664208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2200" b="1">
                <a:solidFill>
                  <a:srgbClr val="18212B"/>
                </a:solidFill>
                <a:latin typeface="Aptos Display"/>
                <a:cs typeface="Aptos Display"/>
              </a:rPr>
              <a:t>Files inspected and used</a:t>
            </a:r>
            <a:endParaRPr lang="en-US" sz="2200"/>
          </a:p>
        </p:txBody>
      </p:sp>
      <p:sp>
        <p:nvSpPr>
          <p:cNvPr id="10" name="Text 10"/>
          <p:cNvSpPr txBox="1"/>
          <p:nvPr/>
        </p:nvSpPr>
        <p:spPr>
          <a:xfrm>
            <a:off x="987552" y="2267712"/>
            <a:ext cx="10058400" cy="2926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Dataset: blood-cell-detection-datatset/README.md and test images/labels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YOLO ranking: YOLO/test/runs/best_pt_validation_summary_20260513_005420.csv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YOLO train-vs-test: YOLO/evaluation/outputs/train_test_comparison_20260513_010742.csv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YOLO visuals: YOLO/evaluation/outputs/*.png and YOLO/test/runs/train_results_150_epochs_yolov26m/*.jpg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CNN metrics: CNN/outputs/eval_test_metrics.json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CNN tuning: CNN/outputs/sweep_results.csv</a:t>
            </a:r>
            <a:endParaRPr lang="en-US" sz="1300"/>
          </a:p>
          <a:p>
            <a:pPr/>
            <a:r>
              <a:rPr lang="en-US" sz="1300">
                <a:solidFill>
                  <a:srgbClr val="18212B"/>
                </a:solidFill>
                <a:latin typeface="Aptos"/>
                <a:cs typeface="Aptos"/>
              </a:rPr>
              <a:t>- CNN visual: CNN/prediction.jpg</a:t>
            </a:r>
            <a:endParaRPr lang="en-US" sz="1300"/>
          </a:p>
        </p:txBody>
      </p:sp>
      <p:sp>
        <p:nvSpPr>
          <p:cNvPr id="11" name="Text 11"/>
          <p:cNvSpPr txBox="1"/>
          <p:nvPr/>
        </p:nvSpPr>
        <p:spPr>
          <a:xfrm>
            <a:off x="987552" y="532180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/>
            <a:r>
              <a:rPr lang="en-US" sz="1150" b="1">
                <a:solidFill>
                  <a:srgbClr val="E84A5F"/>
                </a:solidFill>
                <a:latin typeface="Aptos"/>
                <a:cs typeface="Aptos"/>
              </a:rPr>
              <a:t>Assumption: YOLO and CNN numbers are comparable because both report on the local held-out test split of 36 images.</a:t>
            </a:r>
            <a:endParaRPr lang="en-US" sz="1150"/>
          </a:p>
        </p:txBody>
      </p:sp>
      <p:sp>
        <p:nvSpPr>
          <p:cNvPr id="12" name="Shape 12"/>
          <p:cNvSpPr/>
          <p:nvPr/>
        </p:nvSpPr>
        <p:spPr>
          <a:xfrm>
            <a:off x="411480" y="6446520"/>
            <a:ext cx="11384280" cy="9144"/>
          </a:xfrm>
          <a:prstGeom prst="rect">
            <a:avLst/>
          </a:prstGeom>
          <a:solidFill>
            <a:srgbClr val="344050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11480" y="6473952"/>
            <a:ext cx="11384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73152" rIns="73152" bIns="73152"/>
          <a:lstStyle/>
          <a:p>
            <a:pPr algn="r"/>
            <a:r>
              <a:rPr lang="en-US" sz="750">
                <a:solidFill>
                  <a:srgbClr val="AAB1BD"/>
                </a:solidFill>
                <a:latin typeface="Aptos"/>
                <a:cs typeface="Aptos"/>
              </a:rPr>
              <a:t>Raw artifacts were not modified by this presentation builder.</a:t>
            </a:r>
            <a:endParaRPr lang="en-US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Theme">
  <a:themeElements>
    <a:clrScheme name="Research">
      <a:dk1>
        <a:srgbClr val="151A20"/>
      </a:dk1>
      <a:lt1>
        <a:srgbClr val="F7F1E5"/>
      </a:lt1>
      <a:dk2>
        <a:srgbClr val="202630"/>
      </a:dk2>
      <a:lt2>
        <a:srgbClr val="FFF9EA"/>
      </a:lt2>
      <a:accent1>
        <a:srgbClr val="E84A5F"/>
      </a:accent1>
      <a:accent2>
        <a:srgbClr val="00A6A6"/>
      </a:accent2>
      <a:accent3>
        <a:srgbClr val="F6C85F"/>
      </a:accent3>
      <a:accent4>
        <a:srgbClr val="57C785"/>
      </a:accent4>
      <a:accent5>
        <a:srgbClr val="4F8EF7"/>
      </a:accent5>
      <a:accent6>
        <a:srgbClr val="AAB1BD"/>
      </a:accent6>
      <a:hlink>
        <a:srgbClr val="4F8EF7"/>
      </a:hlink>
      <a:folHlink>
        <a:srgbClr val="E84A5F"/>
      </a:folHlink>
    </a:clrScheme>
    <a:fontScheme name="Research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Research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6"/>
          </a:solidFill>
        </a:ln>
        <a:ln w="12700">
          <a:solidFill>
            <a:schemeClr val="accent1"/>
          </a:solidFill>
        </a:ln>
        <a:ln w="19050">
          <a:solidFill>
            <a:schemeClr val="accent2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dk1"/>
        </a:solidFill>
        <a:solidFill>
          <a:schemeClr val="lt1"/>
        </a:solidFill>
        <a:solidFill>
          <a:schemeClr val="dk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Builder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Model Comparison: YOLO vs CNN</dc:title>
  <dc:creator>Codex</dc:creator>
  <dcterms:created xsi:type="dcterms:W3CDTF">2026-05-18T10:06:43Z</dcterms:created>
  <dcterms:modified xsi:type="dcterms:W3CDTF">2026-05-18T10:06:43Z</dcterms:modified>
</cp:coreProperties>
</file>